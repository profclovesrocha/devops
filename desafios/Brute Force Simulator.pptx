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rial MT Pro Bold" charset="1" panose="020B0802020202020204"/>
      <p:regular r:id="rId26"/>
    </p:embeddedFont>
    <p:embeddedFont>
      <p:font typeface="Arial MT Pro" charset="1" panose="020B0502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554" y="1297534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33518" y="6593338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39" y="0"/>
                </a:lnTo>
                <a:lnTo>
                  <a:pt x="499539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1383774">
            <a:off x="7565571" y="197405"/>
            <a:ext cx="11226909" cy="14341591"/>
            <a:chOff x="0" y="0"/>
            <a:chExt cx="2956881" cy="37772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56881" cy="3777209"/>
            </a:xfrm>
            <a:custGeom>
              <a:avLst/>
              <a:gdLst/>
              <a:ahLst/>
              <a:cxnLst/>
              <a:rect r="r" b="b" t="t" l="l"/>
              <a:pathLst>
                <a:path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1383774">
            <a:off x="7012072" y="108644"/>
            <a:ext cx="10773748" cy="14341591"/>
            <a:chOff x="0" y="0"/>
            <a:chExt cx="2837530" cy="3777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37530" cy="3777209"/>
            </a:xfrm>
            <a:custGeom>
              <a:avLst/>
              <a:gdLst/>
              <a:ahLst/>
              <a:cxnLst/>
              <a:rect r="r" b="b" t="t" l="l"/>
              <a:pathLst>
                <a:path h="3777209" w="2837530">
                  <a:moveTo>
                    <a:pt x="0" y="0"/>
                  </a:moveTo>
                  <a:lnTo>
                    <a:pt x="2837530" y="0"/>
                  </a:lnTo>
                  <a:lnTo>
                    <a:pt x="2837530" y="3777209"/>
                  </a:lnTo>
                  <a:lnTo>
                    <a:pt x="0" y="3777209"/>
                  </a:ln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100000"/>
                  </a:srgbClr>
                </a:gs>
                <a:gs pos="100000">
                  <a:srgbClr val="141519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837530" cy="3748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7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054853" y="2496677"/>
            <a:ext cx="8957347" cy="306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6"/>
              </a:lnSpc>
            </a:pPr>
            <a:r>
              <a:rPr lang="en-US" sz="12177" spc="-194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Brute Force Simulator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2801" y="6749688"/>
            <a:ext cx="5748620" cy="353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48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Alysson Gomes — 24008977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48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Jonathan Mendes — 01375492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48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Lindalva Ferreira — 01725681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48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Matheus Langone — 01753331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48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Natalia Azevedo — 01616881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48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Natthan Gonçalves — 01701854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48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Vitor Hugo — 01698637</a:t>
            </a:r>
          </a:p>
          <a:p>
            <a:pPr algn="just">
              <a:lnSpc>
                <a:spcPts val="3480"/>
              </a:lnSpc>
              <a:spcBef>
                <a:spcPct val="0"/>
              </a:spcBef>
            </a:pPr>
            <a:r>
              <a:rPr lang="en-US" sz="248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Sabrina Lemos — 01700691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4482" y="3466335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39" y="0"/>
                </a:lnTo>
                <a:lnTo>
                  <a:pt x="499539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54482" y="5598730"/>
            <a:ext cx="7089518" cy="3309700"/>
            <a:chOff x="0" y="0"/>
            <a:chExt cx="1867198" cy="8716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7198" cy="871690"/>
            </a:xfrm>
            <a:custGeom>
              <a:avLst/>
              <a:gdLst/>
              <a:ahLst/>
              <a:cxnLst/>
              <a:rect r="r" b="b" t="t" l="l"/>
              <a:pathLst>
                <a:path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06933" y="5814414"/>
            <a:ext cx="675884" cy="675884"/>
            <a:chOff x="0" y="0"/>
            <a:chExt cx="901179" cy="90117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01179" cy="90117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DDD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79664" y="297393"/>
              <a:ext cx="541852" cy="306393"/>
            </a:xfrm>
            <a:custGeom>
              <a:avLst/>
              <a:gdLst/>
              <a:ahLst/>
              <a:cxnLst/>
              <a:rect r="r" b="b" t="t" l="l"/>
              <a:pathLst>
                <a:path h="306393" w="541852">
                  <a:moveTo>
                    <a:pt x="0" y="0"/>
                  </a:moveTo>
                  <a:lnTo>
                    <a:pt x="541851" y="0"/>
                  </a:lnTo>
                  <a:lnTo>
                    <a:pt x="541851" y="306393"/>
                  </a:lnTo>
                  <a:lnTo>
                    <a:pt x="0" y="3063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744875" y="6980921"/>
            <a:ext cx="3300414" cy="39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454" spc="-103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Ataques Cibernéticos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46072" y="7454278"/>
            <a:ext cx="6542189" cy="113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1"/>
              </a:lnSpc>
              <a:spcBef>
                <a:spcPct val="0"/>
              </a:spcBef>
            </a:pPr>
            <a:r>
              <a:rPr lang="en-US" sz="209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Os</a:t>
            </a:r>
            <a:r>
              <a:rPr lang="en-US" sz="209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ataques cibernéticos representam uma das maiores ameaças da era digital, afetando pessoas, empresas e governos em todo o mundo...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39465" y="2343150"/>
            <a:ext cx="6583024" cy="4515361"/>
            <a:chOff x="0" y="0"/>
            <a:chExt cx="1733800" cy="11892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3801" cy="1189231"/>
            </a:xfrm>
            <a:custGeom>
              <a:avLst/>
              <a:gdLst/>
              <a:ahLst/>
              <a:cxnLst/>
              <a:rect r="r" b="b" t="t" l="l"/>
              <a:pathLst>
                <a:path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57660" y="2602754"/>
            <a:ext cx="675884" cy="675884"/>
            <a:chOff x="0" y="0"/>
            <a:chExt cx="901179" cy="90117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01179" cy="901179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7DDD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124407" y="188144"/>
              <a:ext cx="652366" cy="607146"/>
            </a:xfrm>
            <a:custGeom>
              <a:avLst/>
              <a:gdLst/>
              <a:ahLst/>
              <a:cxnLst/>
              <a:rect r="r" b="b" t="t" l="l"/>
              <a:pathLst>
                <a:path h="607146" w="652366">
                  <a:moveTo>
                    <a:pt x="0" y="0"/>
                  </a:moveTo>
                  <a:lnTo>
                    <a:pt x="652365" y="0"/>
                  </a:lnTo>
                  <a:lnTo>
                    <a:pt x="652365" y="607146"/>
                  </a:lnTo>
                  <a:lnTo>
                    <a:pt x="0" y="607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857636" y="3478131"/>
            <a:ext cx="3591874" cy="489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3091" spc="-129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Método Brute Force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79697" y="4410837"/>
            <a:ext cx="5667120" cy="174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 método Brute Force é uma técnica utilizada para tentar descobrir senhas, chaves de criptografia ou credenciais de acesso por meio da realização de inúmeras combinações possíveis até encontrar a correta...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54482" y="2234275"/>
            <a:ext cx="5575917" cy="206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3"/>
              </a:lnSpc>
            </a:pPr>
            <a:r>
              <a:rPr lang="en-US" sz="7166" spc="-3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Sobre o</a:t>
            </a:r>
          </a:p>
          <a:p>
            <a:pPr algn="ctr">
              <a:lnSpc>
                <a:spcPts val="7453"/>
              </a:lnSpc>
            </a:pPr>
            <a:r>
              <a:rPr lang="en-US" b="true" sz="7166" spc="-3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Projeto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9724" y="8085960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39" y="0"/>
                </a:lnTo>
                <a:lnTo>
                  <a:pt x="499539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819973">
            <a:off x="2965332" y="1808540"/>
            <a:ext cx="25563367" cy="18180272"/>
            <a:chOff x="0" y="0"/>
            <a:chExt cx="6732739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32739" cy="4788220"/>
            </a:xfrm>
            <a:custGeom>
              <a:avLst/>
              <a:gdLst/>
              <a:ahLst/>
              <a:cxnLst/>
              <a:rect r="r" b="b" t="t" l="l"/>
              <a:pathLst>
                <a:path h="4788220" w="6732739">
                  <a:moveTo>
                    <a:pt x="0" y="0"/>
                  </a:moveTo>
                  <a:lnTo>
                    <a:pt x="6732739" y="0"/>
                  </a:lnTo>
                  <a:lnTo>
                    <a:pt x="6732739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6732739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54482" y="2262850"/>
            <a:ext cx="5784422" cy="6645580"/>
            <a:chOff x="0" y="0"/>
            <a:chExt cx="812800" cy="933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933806"/>
            </a:xfrm>
            <a:custGeom>
              <a:avLst/>
              <a:gdLst/>
              <a:ahLst/>
              <a:cxnLst/>
              <a:rect r="r" b="b" t="t" l="l"/>
              <a:pathLst>
                <a:path h="933806" w="812800">
                  <a:moveTo>
                    <a:pt x="65582" y="0"/>
                  </a:moveTo>
                  <a:lnTo>
                    <a:pt x="747218" y="0"/>
                  </a:lnTo>
                  <a:cubicBezTo>
                    <a:pt x="783438" y="0"/>
                    <a:pt x="812800" y="29362"/>
                    <a:pt x="812800" y="65582"/>
                  </a:cubicBezTo>
                  <a:lnTo>
                    <a:pt x="812800" y="868224"/>
                  </a:lnTo>
                  <a:cubicBezTo>
                    <a:pt x="812800" y="885617"/>
                    <a:pt x="805890" y="902298"/>
                    <a:pt x="793591" y="914597"/>
                  </a:cubicBezTo>
                  <a:cubicBezTo>
                    <a:pt x="781292" y="926896"/>
                    <a:pt x="764611" y="933806"/>
                    <a:pt x="747218" y="933806"/>
                  </a:cubicBezTo>
                  <a:lnTo>
                    <a:pt x="65582" y="933806"/>
                  </a:lnTo>
                  <a:cubicBezTo>
                    <a:pt x="29362" y="933806"/>
                    <a:pt x="0" y="904444"/>
                    <a:pt x="0" y="868224"/>
                  </a:cubicBezTo>
                  <a:lnTo>
                    <a:pt x="0" y="65582"/>
                  </a:lnTo>
                  <a:cubicBezTo>
                    <a:pt x="0" y="29362"/>
                    <a:pt x="29362" y="0"/>
                    <a:pt x="65582" y="0"/>
                  </a:cubicBezTo>
                  <a:close/>
                </a:path>
              </a:pathLst>
            </a:custGeom>
            <a:blipFill>
              <a:blip r:embed="rId4"/>
              <a:stretch>
                <a:fillRect l="-7443" t="0" r="-744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54482" y="4949018"/>
            <a:ext cx="5784422" cy="3959411"/>
            <a:chOff x="0" y="0"/>
            <a:chExt cx="1523469" cy="1042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469" cy="1042808"/>
            </a:xfrm>
            <a:custGeom>
              <a:avLst/>
              <a:gdLst/>
              <a:ahLst/>
              <a:cxnLst/>
              <a:rect r="r" b="b" t="t" l="l"/>
              <a:pathLst>
                <a:path h="1042808" w="1523469">
                  <a:moveTo>
                    <a:pt x="68259" y="0"/>
                  </a:moveTo>
                  <a:lnTo>
                    <a:pt x="1455210" y="0"/>
                  </a:lnTo>
                  <a:cubicBezTo>
                    <a:pt x="1473314" y="0"/>
                    <a:pt x="1490675" y="7192"/>
                    <a:pt x="1503476" y="19993"/>
                  </a:cubicBezTo>
                  <a:cubicBezTo>
                    <a:pt x="1516278" y="32794"/>
                    <a:pt x="1523469" y="50155"/>
                    <a:pt x="1523469" y="68259"/>
                  </a:cubicBezTo>
                  <a:lnTo>
                    <a:pt x="1523469" y="974549"/>
                  </a:lnTo>
                  <a:cubicBezTo>
                    <a:pt x="1523469" y="1012247"/>
                    <a:pt x="1492908" y="1042808"/>
                    <a:pt x="1455210" y="1042808"/>
                  </a:cubicBezTo>
                  <a:lnTo>
                    <a:pt x="68259" y="1042808"/>
                  </a:lnTo>
                  <a:cubicBezTo>
                    <a:pt x="50155" y="1042808"/>
                    <a:pt x="32794" y="1035616"/>
                    <a:pt x="19993" y="1022815"/>
                  </a:cubicBezTo>
                  <a:cubicBezTo>
                    <a:pt x="7192" y="1010014"/>
                    <a:pt x="0" y="992652"/>
                    <a:pt x="0" y="974549"/>
                  </a:cubicBezTo>
                  <a:lnTo>
                    <a:pt x="0" y="68259"/>
                  </a:lnTo>
                  <a:cubicBezTo>
                    <a:pt x="0" y="30561"/>
                    <a:pt x="30561" y="0"/>
                    <a:pt x="682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523469" cy="1023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32970" y="2262850"/>
            <a:ext cx="5434050" cy="705218"/>
            <a:chOff x="0" y="0"/>
            <a:chExt cx="1417549" cy="1839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32970" y="3253947"/>
            <a:ext cx="5434050" cy="705218"/>
            <a:chOff x="0" y="0"/>
            <a:chExt cx="1417549" cy="1839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32970" y="4243800"/>
            <a:ext cx="5434050" cy="705218"/>
            <a:chOff x="0" y="0"/>
            <a:chExt cx="1417549" cy="1839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32970" y="5233653"/>
            <a:ext cx="5434050" cy="705218"/>
            <a:chOff x="0" y="0"/>
            <a:chExt cx="1417549" cy="1839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32970" y="6223506"/>
            <a:ext cx="5434050" cy="705218"/>
            <a:chOff x="0" y="0"/>
            <a:chExt cx="1417549" cy="1839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32970" y="7213358"/>
            <a:ext cx="5434050" cy="705218"/>
            <a:chOff x="0" y="0"/>
            <a:chExt cx="1417549" cy="1839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32970" y="8203211"/>
            <a:ext cx="5434050" cy="705218"/>
            <a:chOff x="0" y="0"/>
            <a:chExt cx="1417549" cy="1839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17549" cy="183966"/>
            </a:xfrm>
            <a:custGeom>
              <a:avLst/>
              <a:gdLst/>
              <a:ahLst/>
              <a:cxnLst/>
              <a:rect r="r" b="b" t="t" l="l"/>
              <a:pathLst>
                <a:path h="183966" w="1417549">
                  <a:moveTo>
                    <a:pt x="29919" y="0"/>
                  </a:moveTo>
                  <a:lnTo>
                    <a:pt x="1387630" y="0"/>
                  </a:lnTo>
                  <a:cubicBezTo>
                    <a:pt x="1404154" y="0"/>
                    <a:pt x="1417549" y="13395"/>
                    <a:pt x="1417549" y="29919"/>
                  </a:cubicBezTo>
                  <a:lnTo>
                    <a:pt x="1417549" y="154047"/>
                  </a:lnTo>
                  <a:cubicBezTo>
                    <a:pt x="1417549" y="170571"/>
                    <a:pt x="1404154" y="183966"/>
                    <a:pt x="1387630" y="183966"/>
                  </a:cubicBezTo>
                  <a:lnTo>
                    <a:pt x="29919" y="183966"/>
                  </a:lnTo>
                  <a:cubicBezTo>
                    <a:pt x="13395" y="183966"/>
                    <a:pt x="0" y="170571"/>
                    <a:pt x="0" y="154047"/>
                  </a:cubicBezTo>
                  <a:lnTo>
                    <a:pt x="0" y="29919"/>
                  </a:lnTo>
                  <a:cubicBezTo>
                    <a:pt x="0" y="13395"/>
                    <a:pt x="13395" y="0"/>
                    <a:pt x="29919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1417549" cy="164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423448" y="2515621"/>
            <a:ext cx="3088392" cy="50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Segurança da Informação</a:t>
            </a:r>
          </a:p>
          <a:p>
            <a:pPr algn="l">
              <a:lnSpc>
                <a:spcPts val="1793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423448" y="3506718"/>
            <a:ext cx="3088392" cy="50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Autenticação de usuários</a:t>
            </a:r>
          </a:p>
          <a:p>
            <a:pPr algn="l">
              <a:lnSpc>
                <a:spcPts val="1793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9423448" y="4496571"/>
            <a:ext cx="3088392" cy="50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Ataques de força bruta</a:t>
            </a:r>
          </a:p>
          <a:p>
            <a:pPr algn="l">
              <a:lnSpc>
                <a:spcPts val="1793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9423448" y="5486424"/>
            <a:ext cx="3088392" cy="28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Estrutura cliente-servidor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23448" y="6476276"/>
            <a:ext cx="3088392" cy="50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Manipulação de DOM</a:t>
            </a:r>
          </a:p>
          <a:p>
            <a:pPr algn="l">
              <a:lnSpc>
                <a:spcPts val="1793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9423448" y="7466129"/>
            <a:ext cx="3088392" cy="50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Requisições HTTP</a:t>
            </a:r>
          </a:p>
          <a:p>
            <a:pPr algn="l">
              <a:lnSpc>
                <a:spcPts val="1793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9423448" y="8455982"/>
            <a:ext cx="3755577" cy="28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203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Integração com banco de dados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0866" y="4873175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39" y="0"/>
                </a:lnTo>
                <a:lnTo>
                  <a:pt x="499539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44723" y="427251"/>
            <a:ext cx="5984411" cy="10287000"/>
            <a:chOff x="0" y="0"/>
            <a:chExt cx="952562" cy="16374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2562" cy="1637421"/>
            </a:xfrm>
            <a:custGeom>
              <a:avLst/>
              <a:gdLst/>
              <a:ahLst/>
              <a:cxnLst/>
              <a:rect r="r" b="b" t="t" l="l"/>
              <a:pathLst>
                <a:path h="1637421" w="952562">
                  <a:moveTo>
                    <a:pt x="37517" y="0"/>
                  </a:moveTo>
                  <a:lnTo>
                    <a:pt x="915045" y="0"/>
                  </a:lnTo>
                  <a:cubicBezTo>
                    <a:pt x="935765" y="0"/>
                    <a:pt x="952562" y="16797"/>
                    <a:pt x="952562" y="37517"/>
                  </a:cubicBezTo>
                  <a:lnTo>
                    <a:pt x="952562" y="1599905"/>
                  </a:lnTo>
                  <a:cubicBezTo>
                    <a:pt x="952562" y="1609855"/>
                    <a:pt x="948609" y="1619397"/>
                    <a:pt x="941573" y="1626433"/>
                  </a:cubicBezTo>
                  <a:cubicBezTo>
                    <a:pt x="934538" y="1633469"/>
                    <a:pt x="924995" y="1637421"/>
                    <a:pt x="915045" y="1637421"/>
                  </a:cubicBezTo>
                  <a:lnTo>
                    <a:pt x="37517" y="1637421"/>
                  </a:lnTo>
                  <a:cubicBezTo>
                    <a:pt x="27567" y="1637421"/>
                    <a:pt x="18024" y="1633469"/>
                    <a:pt x="10988" y="1626433"/>
                  </a:cubicBezTo>
                  <a:cubicBezTo>
                    <a:pt x="3953" y="1619397"/>
                    <a:pt x="0" y="1609855"/>
                    <a:pt x="0" y="1599905"/>
                  </a:cubicBezTo>
                  <a:lnTo>
                    <a:pt x="0" y="37517"/>
                  </a:lnTo>
                  <a:cubicBezTo>
                    <a:pt x="0" y="27567"/>
                    <a:pt x="3953" y="18024"/>
                    <a:pt x="10988" y="10988"/>
                  </a:cubicBezTo>
                  <a:cubicBezTo>
                    <a:pt x="18024" y="3953"/>
                    <a:pt x="27567" y="0"/>
                    <a:pt x="3751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6894" r="0" b="-6894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244723" y="5959453"/>
            <a:ext cx="5984411" cy="4327547"/>
            <a:chOff x="0" y="0"/>
            <a:chExt cx="1576141" cy="11397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6141" cy="1139766"/>
            </a:xfrm>
            <a:custGeom>
              <a:avLst/>
              <a:gdLst/>
              <a:ahLst/>
              <a:cxnLst/>
              <a:rect r="r" b="b" t="t" l="l"/>
              <a:pathLst>
                <a:path h="1139766" w="1576141">
                  <a:moveTo>
                    <a:pt x="36223" y="0"/>
                  </a:moveTo>
                  <a:lnTo>
                    <a:pt x="1539918" y="0"/>
                  </a:lnTo>
                  <a:cubicBezTo>
                    <a:pt x="1559924" y="0"/>
                    <a:pt x="1576141" y="16218"/>
                    <a:pt x="1576141" y="36223"/>
                  </a:cubicBezTo>
                  <a:lnTo>
                    <a:pt x="1576141" y="1103542"/>
                  </a:lnTo>
                  <a:cubicBezTo>
                    <a:pt x="1576141" y="1123548"/>
                    <a:pt x="1559924" y="1139766"/>
                    <a:pt x="1539918" y="1139766"/>
                  </a:cubicBezTo>
                  <a:lnTo>
                    <a:pt x="36223" y="1139766"/>
                  </a:lnTo>
                  <a:cubicBezTo>
                    <a:pt x="16218" y="1139766"/>
                    <a:pt x="0" y="1123548"/>
                    <a:pt x="0" y="1103542"/>
                  </a:cubicBezTo>
                  <a:lnTo>
                    <a:pt x="0" y="36223"/>
                  </a:lnTo>
                  <a:cubicBezTo>
                    <a:pt x="0" y="16218"/>
                    <a:pt x="16218" y="0"/>
                    <a:pt x="362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576141" cy="11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92136" y="4238950"/>
            <a:ext cx="6583024" cy="1771650"/>
            <a:chOff x="0" y="0"/>
            <a:chExt cx="8777365" cy="23622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777365" cy="2362200"/>
              <a:chOff x="0" y="0"/>
              <a:chExt cx="1733800" cy="46660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33801" cy="466607"/>
              </a:xfrm>
              <a:custGeom>
                <a:avLst/>
                <a:gdLst/>
                <a:ahLst/>
                <a:cxnLst/>
                <a:rect r="r" b="b" t="t" l="l"/>
                <a:pathLst>
                  <a:path h="466607" w="1733801">
                    <a:moveTo>
                      <a:pt x="44690" y="0"/>
                    </a:moveTo>
                    <a:lnTo>
                      <a:pt x="1689111" y="0"/>
                    </a:lnTo>
                    <a:cubicBezTo>
                      <a:pt x="1713792" y="0"/>
                      <a:pt x="1733801" y="20008"/>
                      <a:pt x="1733801" y="44690"/>
                    </a:cubicBezTo>
                    <a:lnTo>
                      <a:pt x="1733801" y="421918"/>
                    </a:lnTo>
                    <a:cubicBezTo>
                      <a:pt x="1733801" y="433770"/>
                      <a:pt x="1729092" y="445137"/>
                      <a:pt x="1720711" y="453518"/>
                    </a:cubicBezTo>
                    <a:cubicBezTo>
                      <a:pt x="1712330" y="461899"/>
                      <a:pt x="1700963" y="466607"/>
                      <a:pt x="1689111" y="466607"/>
                    </a:cubicBezTo>
                    <a:lnTo>
                      <a:pt x="44690" y="466607"/>
                    </a:lnTo>
                    <a:cubicBezTo>
                      <a:pt x="32837" y="466607"/>
                      <a:pt x="21470" y="461899"/>
                      <a:pt x="13089" y="453518"/>
                    </a:cubicBezTo>
                    <a:cubicBezTo>
                      <a:pt x="4708" y="445137"/>
                      <a:pt x="0" y="433770"/>
                      <a:pt x="0" y="421918"/>
                    </a:cubicBezTo>
                    <a:lnTo>
                      <a:pt x="0" y="44690"/>
                    </a:lnTo>
                    <a:cubicBezTo>
                      <a:pt x="0" y="32837"/>
                      <a:pt x="4708" y="21470"/>
                      <a:pt x="13089" y="13089"/>
                    </a:cubicBezTo>
                    <a:cubicBezTo>
                      <a:pt x="21470" y="4708"/>
                      <a:pt x="32837" y="0"/>
                      <a:pt x="4469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4A5B">
                      <a:alpha val="100000"/>
                    </a:srgbClr>
                  </a:gs>
                  <a:gs pos="100000">
                    <a:srgbClr val="27DDD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1733800" cy="4475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822898" y="280939"/>
              <a:ext cx="7131569" cy="1762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34"/>
                </a:lnSpc>
              </a:pPr>
              <a:r>
                <a:rPr lang="en-US" sz="8494" spc="-356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Arquitetura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12338" y="-7228893"/>
            <a:ext cx="14629685" cy="14736862"/>
          </a:xfrm>
          <a:custGeom>
            <a:avLst/>
            <a:gdLst/>
            <a:ahLst/>
            <a:cxnLst/>
            <a:rect r="r" b="b" t="t" l="l"/>
            <a:pathLst>
              <a:path h="14736862" w="14629685">
                <a:moveTo>
                  <a:pt x="0" y="0"/>
                </a:moveTo>
                <a:lnTo>
                  <a:pt x="14629685" y="0"/>
                </a:lnTo>
                <a:lnTo>
                  <a:pt x="14629685" y="14736863"/>
                </a:lnTo>
                <a:lnTo>
                  <a:pt x="0" y="14736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64655" y="1059298"/>
            <a:ext cx="7138466" cy="3042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4"/>
              </a:lnSpc>
            </a:pPr>
            <a:r>
              <a:rPr lang="en-US" b="true" sz="7216" spc="-30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Simulação de Ataque e Segurança</a:t>
            </a:r>
          </a:p>
        </p:txBody>
      </p:sp>
      <p:grpSp>
        <p:nvGrpSpPr>
          <p:cNvPr name="Group 4" id="4"/>
          <p:cNvGrpSpPr/>
          <p:nvPr/>
        </p:nvGrpSpPr>
        <p:grpSpPr>
          <a:xfrm rot="-851681">
            <a:off x="808966" y="7541919"/>
            <a:ext cx="21825170" cy="18180272"/>
            <a:chOff x="0" y="0"/>
            <a:chExt cx="5748193" cy="47882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48193" cy="4788220"/>
            </a:xfrm>
            <a:custGeom>
              <a:avLst/>
              <a:gdLst/>
              <a:ahLst/>
              <a:cxnLst/>
              <a:rect r="r" b="b" t="t" l="l"/>
              <a:pathLst>
                <a:path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9970" y="2946845"/>
            <a:ext cx="6964686" cy="6645580"/>
            <a:chOff x="0" y="0"/>
            <a:chExt cx="9286247" cy="886077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286247" cy="8860773"/>
              <a:chOff x="0" y="0"/>
              <a:chExt cx="1834320" cy="175027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34320" cy="1750276"/>
              </a:xfrm>
              <a:custGeom>
                <a:avLst/>
                <a:gdLst/>
                <a:ahLst/>
                <a:cxnLst/>
                <a:rect r="r" b="b" t="t" l="l"/>
                <a:pathLst>
                  <a:path h="1750276" w="1834320">
                    <a:moveTo>
                      <a:pt x="56691" y="0"/>
                    </a:moveTo>
                    <a:lnTo>
                      <a:pt x="1777629" y="0"/>
                    </a:lnTo>
                    <a:cubicBezTo>
                      <a:pt x="1808939" y="0"/>
                      <a:pt x="1834320" y="25382"/>
                      <a:pt x="1834320" y="56691"/>
                    </a:cubicBezTo>
                    <a:lnTo>
                      <a:pt x="1834320" y="1693585"/>
                    </a:lnTo>
                    <a:cubicBezTo>
                      <a:pt x="1834320" y="1708620"/>
                      <a:pt x="1828348" y="1723040"/>
                      <a:pt x="1817716" y="1733672"/>
                    </a:cubicBezTo>
                    <a:cubicBezTo>
                      <a:pt x="1807084" y="1744303"/>
                      <a:pt x="1792664" y="1750276"/>
                      <a:pt x="1777629" y="1750276"/>
                    </a:cubicBezTo>
                    <a:lnTo>
                      <a:pt x="56691" y="1750276"/>
                    </a:lnTo>
                    <a:cubicBezTo>
                      <a:pt x="41656" y="1750276"/>
                      <a:pt x="27236" y="1744303"/>
                      <a:pt x="16605" y="1733672"/>
                    </a:cubicBezTo>
                    <a:cubicBezTo>
                      <a:pt x="5973" y="1723040"/>
                      <a:pt x="0" y="1708620"/>
                      <a:pt x="0" y="1693585"/>
                    </a:cubicBezTo>
                    <a:lnTo>
                      <a:pt x="0" y="56691"/>
                    </a:lnTo>
                    <a:cubicBezTo>
                      <a:pt x="0" y="41656"/>
                      <a:pt x="5973" y="27236"/>
                      <a:pt x="16605" y="16605"/>
                    </a:cubicBezTo>
                    <a:cubicBezTo>
                      <a:pt x="27236" y="5973"/>
                      <a:pt x="41656" y="0"/>
                      <a:pt x="56691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1834320" cy="17312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808623" y="900467"/>
              <a:ext cx="6715309" cy="2163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917"/>
                </a:lnSpc>
              </a:pPr>
              <a:r>
                <a:rPr lang="en-US" b="true" sz="5690" spc="-238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Simulação de Ataque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699170" y="4199565"/>
              <a:ext cx="7514610" cy="3080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36"/>
                </a:lnSpc>
              </a:pPr>
              <a:r>
                <a:rPr lang="en-US" sz="2915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O sistema executa tentativas automáticas utilizando uma wordlist de senhas comuns.</a:t>
              </a:r>
            </a:p>
            <a:p>
              <a:pPr algn="l">
                <a:lnSpc>
                  <a:spcPts val="463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14233" y="4988063"/>
            <a:ext cx="6911692" cy="4604361"/>
            <a:chOff x="0" y="0"/>
            <a:chExt cx="9215589" cy="613914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215589" cy="6000354"/>
              <a:chOff x="0" y="0"/>
              <a:chExt cx="1417549" cy="92297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17549" cy="922979"/>
              </a:xfrm>
              <a:custGeom>
                <a:avLst/>
                <a:gdLst/>
                <a:ahLst/>
                <a:cxnLst/>
                <a:rect r="r" b="b" t="t" l="l"/>
                <a:pathLst>
                  <a:path h="922979" w="1417549">
                    <a:moveTo>
                      <a:pt x="29849" y="0"/>
                    </a:moveTo>
                    <a:lnTo>
                      <a:pt x="1387701" y="0"/>
                    </a:lnTo>
                    <a:cubicBezTo>
                      <a:pt x="1395617" y="0"/>
                      <a:pt x="1403209" y="3145"/>
                      <a:pt x="1408807" y="8742"/>
                    </a:cubicBezTo>
                    <a:cubicBezTo>
                      <a:pt x="1414404" y="14340"/>
                      <a:pt x="1417549" y="21932"/>
                      <a:pt x="1417549" y="29849"/>
                    </a:cubicBezTo>
                    <a:lnTo>
                      <a:pt x="1417549" y="893131"/>
                    </a:lnTo>
                    <a:cubicBezTo>
                      <a:pt x="1417549" y="901047"/>
                      <a:pt x="1414404" y="908639"/>
                      <a:pt x="1408807" y="914237"/>
                    </a:cubicBezTo>
                    <a:cubicBezTo>
                      <a:pt x="1403209" y="919834"/>
                      <a:pt x="1395617" y="922979"/>
                      <a:pt x="1387701" y="922979"/>
                    </a:cubicBezTo>
                    <a:lnTo>
                      <a:pt x="29849" y="922979"/>
                    </a:lnTo>
                    <a:cubicBezTo>
                      <a:pt x="21932" y="922979"/>
                      <a:pt x="14340" y="919834"/>
                      <a:pt x="8742" y="914237"/>
                    </a:cubicBezTo>
                    <a:cubicBezTo>
                      <a:pt x="3145" y="908639"/>
                      <a:pt x="0" y="901047"/>
                      <a:pt x="0" y="893131"/>
                    </a:cubicBezTo>
                    <a:lnTo>
                      <a:pt x="0" y="29849"/>
                    </a:lnTo>
                    <a:cubicBezTo>
                      <a:pt x="0" y="21932"/>
                      <a:pt x="3145" y="14340"/>
                      <a:pt x="8742" y="8742"/>
                    </a:cubicBezTo>
                    <a:cubicBezTo>
                      <a:pt x="14340" y="3145"/>
                      <a:pt x="21932" y="0"/>
                      <a:pt x="29849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4A5B">
                      <a:alpha val="100000"/>
                    </a:srgbClr>
                  </a:gs>
                  <a:gs pos="100000">
                    <a:srgbClr val="27DDD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1417549" cy="9039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852630" y="272063"/>
              <a:ext cx="6997482" cy="1758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13"/>
                </a:lnSpc>
              </a:pPr>
              <a:r>
                <a:rPr lang="en-US" sz="8474" spc="-355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Segurança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484499"/>
              <a:ext cx="7435403" cy="3654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68214" indent="-434107" lvl="1">
                <a:lnSpc>
                  <a:spcPts val="4182"/>
                </a:lnSpc>
                <a:buFont typeface="Arial"/>
                <a:buChar char="•"/>
              </a:pPr>
              <a:r>
                <a:rPr lang="en-US" b="true" sz="4021" spc="-168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Sistema de bloqueio por tentativas</a:t>
              </a:r>
            </a:p>
            <a:p>
              <a:pPr algn="l">
                <a:lnSpc>
                  <a:spcPts val="4182"/>
                </a:lnSpc>
              </a:pPr>
            </a:p>
            <a:p>
              <a:pPr algn="l" marL="868214" indent="-434107" lvl="1">
                <a:lnSpc>
                  <a:spcPts val="4182"/>
                </a:lnSpc>
                <a:buFont typeface="Arial"/>
                <a:buChar char="•"/>
              </a:pPr>
              <a:r>
                <a:rPr lang="en-US" b="true" sz="4021" spc="-168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CAPTCHA</a:t>
              </a:r>
            </a:p>
            <a:p>
              <a:pPr algn="l">
                <a:lnSpc>
                  <a:spcPts val="4182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9197" y="924610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39" y="0"/>
                </a:lnTo>
                <a:lnTo>
                  <a:pt x="499539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28707" y="0"/>
            <a:ext cx="11245686" cy="2352419"/>
            <a:chOff x="0" y="0"/>
            <a:chExt cx="1942786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2786" cy="406400"/>
            </a:xfrm>
            <a:custGeom>
              <a:avLst/>
              <a:gdLst/>
              <a:ahLst/>
              <a:cxnLst/>
              <a:rect r="r" b="b" t="t" l="l"/>
              <a:pathLst>
                <a:path h="406400" w="1942786">
                  <a:moveTo>
                    <a:pt x="1739586" y="0"/>
                  </a:moveTo>
                  <a:cubicBezTo>
                    <a:pt x="1851810" y="0"/>
                    <a:pt x="1942786" y="90976"/>
                    <a:pt x="1942786" y="203200"/>
                  </a:cubicBezTo>
                  <a:cubicBezTo>
                    <a:pt x="1942786" y="315424"/>
                    <a:pt x="1851810" y="406400"/>
                    <a:pt x="17395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4278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3066570"/>
            <a:ext cx="10302881" cy="7870668"/>
            <a:chOff x="0" y="0"/>
            <a:chExt cx="2143421" cy="16374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3421" cy="1637421"/>
            </a:xfrm>
            <a:custGeom>
              <a:avLst/>
              <a:gdLst/>
              <a:ahLst/>
              <a:cxnLst/>
              <a:rect r="r" b="b" t="t" l="l"/>
              <a:pathLst>
                <a:path h="1637421" w="2143421">
                  <a:moveTo>
                    <a:pt x="21792" y="0"/>
                  </a:moveTo>
                  <a:lnTo>
                    <a:pt x="2121630" y="0"/>
                  </a:lnTo>
                  <a:cubicBezTo>
                    <a:pt x="2127409" y="0"/>
                    <a:pt x="2132952" y="2296"/>
                    <a:pt x="2137039" y="6383"/>
                  </a:cubicBezTo>
                  <a:cubicBezTo>
                    <a:pt x="2141126" y="10469"/>
                    <a:pt x="2143421" y="16012"/>
                    <a:pt x="2143421" y="21792"/>
                  </a:cubicBezTo>
                  <a:lnTo>
                    <a:pt x="2143421" y="1615630"/>
                  </a:lnTo>
                  <a:cubicBezTo>
                    <a:pt x="2143421" y="1627665"/>
                    <a:pt x="2133665" y="1637421"/>
                    <a:pt x="2121630" y="1637421"/>
                  </a:cubicBezTo>
                  <a:lnTo>
                    <a:pt x="21792" y="1637421"/>
                  </a:lnTo>
                  <a:cubicBezTo>
                    <a:pt x="9756" y="1637421"/>
                    <a:pt x="0" y="1627665"/>
                    <a:pt x="0" y="1615630"/>
                  </a:cubicBezTo>
                  <a:lnTo>
                    <a:pt x="0" y="21792"/>
                  </a:lnTo>
                  <a:cubicBezTo>
                    <a:pt x="0" y="9756"/>
                    <a:pt x="9756" y="0"/>
                    <a:pt x="21792" y="0"/>
                  </a:cubicBezTo>
                  <a:close/>
                </a:path>
              </a:pathLst>
            </a:custGeom>
            <a:blipFill>
              <a:blip r:embed="rId4"/>
              <a:stretch>
                <a:fillRect l="-7330" t="0" r="-73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800368"/>
            <a:ext cx="10302881" cy="5136870"/>
            <a:chOff x="0" y="0"/>
            <a:chExt cx="2285997" cy="11397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5997" cy="1139766"/>
            </a:xfrm>
            <a:custGeom>
              <a:avLst/>
              <a:gdLst/>
              <a:ahLst/>
              <a:cxnLst/>
              <a:rect r="r" b="b" t="t" l="l"/>
              <a:pathLst>
                <a:path h="1139766" w="2285997">
                  <a:moveTo>
                    <a:pt x="21040" y="0"/>
                  </a:moveTo>
                  <a:lnTo>
                    <a:pt x="2264957" y="0"/>
                  </a:lnTo>
                  <a:cubicBezTo>
                    <a:pt x="2270537" y="0"/>
                    <a:pt x="2275889" y="2217"/>
                    <a:pt x="2279834" y="6163"/>
                  </a:cubicBezTo>
                  <a:cubicBezTo>
                    <a:pt x="2283780" y="10108"/>
                    <a:pt x="2285997" y="15460"/>
                    <a:pt x="2285997" y="21040"/>
                  </a:cubicBezTo>
                  <a:lnTo>
                    <a:pt x="2285997" y="1118725"/>
                  </a:lnTo>
                  <a:cubicBezTo>
                    <a:pt x="2285997" y="1130346"/>
                    <a:pt x="2276577" y="1139766"/>
                    <a:pt x="2264957" y="1139766"/>
                  </a:cubicBezTo>
                  <a:lnTo>
                    <a:pt x="21040" y="1139766"/>
                  </a:lnTo>
                  <a:cubicBezTo>
                    <a:pt x="15460" y="1139766"/>
                    <a:pt x="10108" y="1137549"/>
                    <a:pt x="6163" y="1133603"/>
                  </a:cubicBezTo>
                  <a:cubicBezTo>
                    <a:pt x="2217" y="1129657"/>
                    <a:pt x="0" y="1124306"/>
                    <a:pt x="0" y="1118725"/>
                  </a:cubicBezTo>
                  <a:lnTo>
                    <a:pt x="0" y="21040"/>
                  </a:lnTo>
                  <a:cubicBezTo>
                    <a:pt x="0" y="15460"/>
                    <a:pt x="2217" y="10108"/>
                    <a:pt x="6163" y="6163"/>
                  </a:cubicBezTo>
                  <a:cubicBezTo>
                    <a:pt x="10108" y="2217"/>
                    <a:pt x="15460" y="0"/>
                    <a:pt x="210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285997" cy="11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831117" y="471070"/>
            <a:ext cx="9840865" cy="139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829" spc="-20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Desafio 1 — Automação de Deploy e Integração Contínua (CI/CD)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92050" y="3066570"/>
            <a:ext cx="6964686" cy="6645580"/>
            <a:chOff x="0" y="0"/>
            <a:chExt cx="1834320" cy="17502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4320" cy="1750276"/>
            </a:xfrm>
            <a:custGeom>
              <a:avLst/>
              <a:gdLst/>
              <a:ahLst/>
              <a:cxnLst/>
              <a:rect r="r" b="b" t="t" l="l"/>
              <a:pathLst>
                <a:path h="1750276" w="1834320">
                  <a:moveTo>
                    <a:pt x="56691" y="0"/>
                  </a:moveTo>
                  <a:lnTo>
                    <a:pt x="1777629" y="0"/>
                  </a:lnTo>
                  <a:cubicBezTo>
                    <a:pt x="1808939" y="0"/>
                    <a:pt x="1834320" y="25382"/>
                    <a:pt x="1834320" y="56691"/>
                  </a:cubicBezTo>
                  <a:lnTo>
                    <a:pt x="1834320" y="1693585"/>
                  </a:lnTo>
                  <a:cubicBezTo>
                    <a:pt x="1834320" y="1708620"/>
                    <a:pt x="1828348" y="1723040"/>
                    <a:pt x="1817716" y="1733672"/>
                  </a:cubicBezTo>
                  <a:cubicBezTo>
                    <a:pt x="1807084" y="1744303"/>
                    <a:pt x="1792664" y="1750276"/>
                    <a:pt x="1777629" y="1750276"/>
                  </a:cubicBezTo>
                  <a:lnTo>
                    <a:pt x="56691" y="1750276"/>
                  </a:lnTo>
                  <a:cubicBezTo>
                    <a:pt x="41656" y="1750276"/>
                    <a:pt x="27236" y="1744303"/>
                    <a:pt x="16605" y="1733672"/>
                  </a:cubicBezTo>
                  <a:cubicBezTo>
                    <a:pt x="5973" y="1723040"/>
                    <a:pt x="0" y="1708620"/>
                    <a:pt x="0" y="1693585"/>
                  </a:cubicBezTo>
                  <a:lnTo>
                    <a:pt x="0" y="56691"/>
                  </a:lnTo>
                  <a:cubicBezTo>
                    <a:pt x="0" y="41656"/>
                    <a:pt x="5973" y="27236"/>
                    <a:pt x="16605" y="16605"/>
                  </a:cubicBezTo>
                  <a:cubicBezTo>
                    <a:pt x="27236" y="5973"/>
                    <a:pt x="41656" y="0"/>
                    <a:pt x="56691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834320" cy="1731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470748" y="3720340"/>
            <a:ext cx="5807288" cy="519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7"/>
              </a:lnSpc>
            </a:pPr>
            <a:r>
              <a:rPr lang="en-US" sz="257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 objetivo foi criar uma esteira de Automação de Deploy e Integração Contínua (CI/CD) utilizando GitHub Actions. A arquitetura foi projetada para garantir que qualquer alteração no código seja testada, empacotada em um container estável e disponibilizada para produção de forma 100% automática, rápida e segura.</a:t>
            </a:r>
          </a:p>
          <a:p>
            <a:pPr algn="l">
              <a:lnSpc>
                <a:spcPts val="408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011154">
            <a:off x="12221280" y="1436256"/>
            <a:ext cx="17403374" cy="18180272"/>
            <a:chOff x="0" y="0"/>
            <a:chExt cx="4583605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790800"/>
            <a:ext cx="10547371" cy="8367282"/>
            <a:chOff x="0" y="0"/>
            <a:chExt cx="1177108" cy="933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7108" cy="933806"/>
            </a:xfrm>
            <a:custGeom>
              <a:avLst/>
              <a:gdLst/>
              <a:ahLst/>
              <a:cxnLst/>
              <a:rect r="r" b="b" t="t" l="l"/>
              <a:pathLst>
                <a:path h="933806" w="1177108">
                  <a:moveTo>
                    <a:pt x="35967" y="0"/>
                  </a:moveTo>
                  <a:lnTo>
                    <a:pt x="1141142" y="0"/>
                  </a:lnTo>
                  <a:cubicBezTo>
                    <a:pt x="1150681" y="0"/>
                    <a:pt x="1159829" y="3789"/>
                    <a:pt x="1166574" y="10534"/>
                  </a:cubicBezTo>
                  <a:cubicBezTo>
                    <a:pt x="1173319" y="17279"/>
                    <a:pt x="1177108" y="26428"/>
                    <a:pt x="1177108" y="35967"/>
                  </a:cubicBezTo>
                  <a:lnTo>
                    <a:pt x="1177108" y="897839"/>
                  </a:lnTo>
                  <a:cubicBezTo>
                    <a:pt x="1177108" y="907378"/>
                    <a:pt x="1173319" y="916526"/>
                    <a:pt x="1166574" y="923271"/>
                  </a:cubicBezTo>
                  <a:cubicBezTo>
                    <a:pt x="1159829" y="930017"/>
                    <a:pt x="1150681" y="933806"/>
                    <a:pt x="1141142" y="933806"/>
                  </a:cubicBezTo>
                  <a:lnTo>
                    <a:pt x="35967" y="933806"/>
                  </a:lnTo>
                  <a:cubicBezTo>
                    <a:pt x="26428" y="933806"/>
                    <a:pt x="17279" y="930017"/>
                    <a:pt x="10534" y="923271"/>
                  </a:cubicBezTo>
                  <a:cubicBezTo>
                    <a:pt x="3789" y="916526"/>
                    <a:pt x="0" y="907378"/>
                    <a:pt x="0" y="897839"/>
                  </a:cubicBezTo>
                  <a:lnTo>
                    <a:pt x="0" y="35967"/>
                  </a:lnTo>
                  <a:cubicBezTo>
                    <a:pt x="0" y="26428"/>
                    <a:pt x="3789" y="17279"/>
                    <a:pt x="10534" y="10534"/>
                  </a:cubicBezTo>
                  <a:cubicBezTo>
                    <a:pt x="17279" y="3789"/>
                    <a:pt x="26428" y="0"/>
                    <a:pt x="3596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621" r="0" b="-562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974441"/>
            <a:ext cx="10547371" cy="4183641"/>
            <a:chOff x="0" y="0"/>
            <a:chExt cx="2663990" cy="1056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3990" cy="1056678"/>
            </a:xfrm>
            <a:custGeom>
              <a:avLst/>
              <a:gdLst/>
              <a:ahLst/>
              <a:cxnLst/>
              <a:rect r="r" b="b" t="t" l="l"/>
              <a:pathLst>
                <a:path h="1056678" w="2663990">
                  <a:moveTo>
                    <a:pt x="37435" y="0"/>
                  </a:moveTo>
                  <a:lnTo>
                    <a:pt x="2626555" y="0"/>
                  </a:lnTo>
                  <a:cubicBezTo>
                    <a:pt x="2636483" y="0"/>
                    <a:pt x="2646005" y="3944"/>
                    <a:pt x="2653025" y="10964"/>
                  </a:cubicBezTo>
                  <a:cubicBezTo>
                    <a:pt x="2660046" y="17985"/>
                    <a:pt x="2663990" y="27506"/>
                    <a:pt x="2663990" y="37435"/>
                  </a:cubicBezTo>
                  <a:lnTo>
                    <a:pt x="2663990" y="1019244"/>
                  </a:lnTo>
                  <a:cubicBezTo>
                    <a:pt x="2663990" y="1029172"/>
                    <a:pt x="2660046" y="1038693"/>
                    <a:pt x="2653025" y="1045714"/>
                  </a:cubicBezTo>
                  <a:cubicBezTo>
                    <a:pt x="2646005" y="1052734"/>
                    <a:pt x="2636483" y="1056678"/>
                    <a:pt x="2626555" y="1056678"/>
                  </a:cubicBezTo>
                  <a:lnTo>
                    <a:pt x="37435" y="1056678"/>
                  </a:lnTo>
                  <a:cubicBezTo>
                    <a:pt x="27506" y="1056678"/>
                    <a:pt x="17985" y="1052734"/>
                    <a:pt x="10964" y="1045714"/>
                  </a:cubicBezTo>
                  <a:cubicBezTo>
                    <a:pt x="3944" y="1038693"/>
                    <a:pt x="0" y="1029172"/>
                    <a:pt x="0" y="1019244"/>
                  </a:cubicBezTo>
                  <a:lnTo>
                    <a:pt x="0" y="37435"/>
                  </a:lnTo>
                  <a:cubicBezTo>
                    <a:pt x="0" y="27506"/>
                    <a:pt x="3944" y="17985"/>
                    <a:pt x="10964" y="10964"/>
                  </a:cubicBezTo>
                  <a:cubicBezTo>
                    <a:pt x="17985" y="3944"/>
                    <a:pt x="27506" y="0"/>
                    <a:pt x="374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663990" cy="1037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15254" y="2700548"/>
            <a:ext cx="6329382" cy="4496940"/>
            <a:chOff x="0" y="0"/>
            <a:chExt cx="8439176" cy="599592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245401" cy="940291"/>
              <a:chOff x="0" y="0"/>
              <a:chExt cx="1417549" cy="1839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193776" y="1243604"/>
              <a:ext cx="7245401" cy="940291"/>
              <a:chOff x="0" y="0"/>
              <a:chExt cx="1417549" cy="1839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601" y="2561491"/>
              <a:ext cx="7245401" cy="940291"/>
              <a:chOff x="0" y="0"/>
              <a:chExt cx="1417549" cy="1839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93776" y="3806582"/>
              <a:ext cx="7245401" cy="940291"/>
              <a:chOff x="0" y="0"/>
              <a:chExt cx="1417549" cy="18396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601" y="5055629"/>
              <a:ext cx="7245401" cy="940291"/>
              <a:chOff x="0" y="0"/>
              <a:chExt cx="1417549" cy="18396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653970" y="330678"/>
              <a:ext cx="4601076" cy="68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3"/>
                </a:lnSpc>
              </a:pPr>
              <a:r>
                <a:rPr lang="en-US" sz="20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Pipeline CI/CD automatizado</a:t>
              </a:r>
            </a:p>
            <a:p>
              <a:pPr algn="l">
                <a:lnSpc>
                  <a:spcPts val="1793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847746" y="1574281"/>
              <a:ext cx="5679027" cy="68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3"/>
                </a:lnSpc>
              </a:pPr>
              <a:r>
                <a:rPr lang="en-US" sz="20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Validação automática de alterações</a:t>
              </a:r>
            </a:p>
            <a:p>
              <a:pPr algn="l">
                <a:lnSpc>
                  <a:spcPts val="1793"/>
                </a:lnSpc>
              </a:pP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29587" y="2819372"/>
              <a:ext cx="6591430" cy="68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3"/>
                </a:lnSpc>
              </a:pPr>
              <a:r>
                <a:rPr lang="en-US" sz="20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Empacotamento padronizado da aplicação</a:t>
              </a:r>
            </a:p>
            <a:p>
              <a:pPr algn="l">
                <a:lnSpc>
                  <a:spcPts val="1793"/>
                </a:lnSpc>
              </a:pP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520761" y="4144619"/>
              <a:ext cx="3337271" cy="68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3"/>
                </a:lnSpc>
              </a:pPr>
              <a:r>
                <a:rPr lang="en-US" sz="20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Deploy automatizado</a:t>
              </a:r>
            </a:p>
            <a:p>
              <a:pPr algn="l">
                <a:lnSpc>
                  <a:spcPts val="1793"/>
                </a:lnSpc>
              </a:pP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83974" y="5312023"/>
              <a:ext cx="4601076" cy="68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3"/>
                </a:lnSpc>
              </a:pPr>
              <a:r>
                <a:rPr lang="en-US" sz="20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Redução de falhas manuais</a:t>
              </a:r>
            </a:p>
            <a:p>
              <a:pPr algn="l">
                <a:lnSpc>
                  <a:spcPts val="1793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097111" y="752413"/>
            <a:ext cx="4991209" cy="103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sz="7280" spc="-116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Resultados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011154">
            <a:off x="12221280" y="1436256"/>
            <a:ext cx="17403374" cy="18180272"/>
            <a:chOff x="0" y="0"/>
            <a:chExt cx="4583605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63991" y="1558867"/>
            <a:ext cx="5747741" cy="8599216"/>
            <a:chOff x="0" y="0"/>
            <a:chExt cx="1177108" cy="17610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7108" cy="1761076"/>
            </a:xfrm>
            <a:custGeom>
              <a:avLst/>
              <a:gdLst/>
              <a:ahLst/>
              <a:cxnLst/>
              <a:rect r="r" b="b" t="t" l="l"/>
              <a:pathLst>
                <a:path h="1761076" w="1177108">
                  <a:moveTo>
                    <a:pt x="66001" y="0"/>
                  </a:moveTo>
                  <a:lnTo>
                    <a:pt x="1111108" y="0"/>
                  </a:lnTo>
                  <a:cubicBezTo>
                    <a:pt x="1128612" y="0"/>
                    <a:pt x="1145400" y="6954"/>
                    <a:pt x="1157777" y="19331"/>
                  </a:cubicBezTo>
                  <a:cubicBezTo>
                    <a:pt x="1170155" y="31709"/>
                    <a:pt x="1177108" y="48496"/>
                    <a:pt x="1177108" y="66001"/>
                  </a:cubicBezTo>
                  <a:lnTo>
                    <a:pt x="1177108" y="1695075"/>
                  </a:lnTo>
                  <a:cubicBezTo>
                    <a:pt x="1177108" y="1712580"/>
                    <a:pt x="1170155" y="1729367"/>
                    <a:pt x="1157777" y="1741745"/>
                  </a:cubicBezTo>
                  <a:cubicBezTo>
                    <a:pt x="1145400" y="1754122"/>
                    <a:pt x="1128612" y="1761076"/>
                    <a:pt x="1111108" y="1761076"/>
                  </a:cubicBezTo>
                  <a:lnTo>
                    <a:pt x="66001" y="1761076"/>
                  </a:lnTo>
                  <a:cubicBezTo>
                    <a:pt x="48496" y="1761076"/>
                    <a:pt x="31709" y="1754122"/>
                    <a:pt x="19331" y="1741745"/>
                  </a:cubicBezTo>
                  <a:cubicBezTo>
                    <a:pt x="6954" y="1729367"/>
                    <a:pt x="0" y="1712580"/>
                    <a:pt x="0" y="1695075"/>
                  </a:cubicBezTo>
                  <a:lnTo>
                    <a:pt x="0" y="66001"/>
                  </a:lnTo>
                  <a:cubicBezTo>
                    <a:pt x="0" y="48496"/>
                    <a:pt x="6954" y="31709"/>
                    <a:pt x="19331" y="19331"/>
                  </a:cubicBezTo>
                  <a:cubicBezTo>
                    <a:pt x="31709" y="6954"/>
                    <a:pt x="48496" y="0"/>
                    <a:pt x="6600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259" r="0" b="-325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974441"/>
            <a:ext cx="10547371" cy="4183641"/>
            <a:chOff x="0" y="0"/>
            <a:chExt cx="2663990" cy="1056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3990" cy="1056678"/>
            </a:xfrm>
            <a:custGeom>
              <a:avLst/>
              <a:gdLst/>
              <a:ahLst/>
              <a:cxnLst/>
              <a:rect r="r" b="b" t="t" l="l"/>
              <a:pathLst>
                <a:path h="1056678" w="2663990">
                  <a:moveTo>
                    <a:pt x="37435" y="0"/>
                  </a:moveTo>
                  <a:lnTo>
                    <a:pt x="2626555" y="0"/>
                  </a:lnTo>
                  <a:cubicBezTo>
                    <a:pt x="2636483" y="0"/>
                    <a:pt x="2646005" y="3944"/>
                    <a:pt x="2653025" y="10964"/>
                  </a:cubicBezTo>
                  <a:cubicBezTo>
                    <a:pt x="2660046" y="17985"/>
                    <a:pt x="2663990" y="27506"/>
                    <a:pt x="2663990" y="37435"/>
                  </a:cubicBezTo>
                  <a:lnTo>
                    <a:pt x="2663990" y="1019244"/>
                  </a:lnTo>
                  <a:cubicBezTo>
                    <a:pt x="2663990" y="1029172"/>
                    <a:pt x="2660046" y="1038693"/>
                    <a:pt x="2653025" y="1045714"/>
                  </a:cubicBezTo>
                  <a:cubicBezTo>
                    <a:pt x="2646005" y="1052734"/>
                    <a:pt x="2636483" y="1056678"/>
                    <a:pt x="2626555" y="1056678"/>
                  </a:cubicBezTo>
                  <a:lnTo>
                    <a:pt x="37435" y="1056678"/>
                  </a:lnTo>
                  <a:cubicBezTo>
                    <a:pt x="27506" y="1056678"/>
                    <a:pt x="17985" y="1052734"/>
                    <a:pt x="10964" y="1045714"/>
                  </a:cubicBezTo>
                  <a:cubicBezTo>
                    <a:pt x="3944" y="1038693"/>
                    <a:pt x="0" y="1029172"/>
                    <a:pt x="0" y="1019244"/>
                  </a:cubicBezTo>
                  <a:lnTo>
                    <a:pt x="0" y="37435"/>
                  </a:lnTo>
                  <a:cubicBezTo>
                    <a:pt x="0" y="27506"/>
                    <a:pt x="3944" y="17985"/>
                    <a:pt x="10964" y="10964"/>
                  </a:cubicBezTo>
                  <a:cubicBezTo>
                    <a:pt x="17985" y="3944"/>
                    <a:pt x="27506" y="0"/>
                    <a:pt x="374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663990" cy="1037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15254" y="2700548"/>
            <a:ext cx="6329382" cy="4496940"/>
            <a:chOff x="0" y="0"/>
            <a:chExt cx="8439176" cy="599592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245401" cy="940291"/>
              <a:chOff x="0" y="0"/>
              <a:chExt cx="1417549" cy="1839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193776" y="1243604"/>
              <a:ext cx="7245401" cy="940291"/>
              <a:chOff x="0" y="0"/>
              <a:chExt cx="1417549" cy="1839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601" y="2561491"/>
              <a:ext cx="7245401" cy="940291"/>
              <a:chOff x="0" y="0"/>
              <a:chExt cx="1417549" cy="1839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93776" y="3806582"/>
              <a:ext cx="7245401" cy="940291"/>
              <a:chOff x="0" y="0"/>
              <a:chExt cx="1417549" cy="18396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601" y="5055629"/>
              <a:ext cx="7245401" cy="940291"/>
              <a:chOff x="0" y="0"/>
              <a:chExt cx="1417549" cy="18396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653970" y="330678"/>
              <a:ext cx="4601076" cy="68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3"/>
                </a:lnSpc>
              </a:pPr>
              <a:r>
                <a:rPr lang="en-US" sz="20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Pipeline CI/CD automatizado</a:t>
              </a:r>
            </a:p>
            <a:p>
              <a:pPr algn="l">
                <a:lnSpc>
                  <a:spcPts val="1793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847746" y="1574281"/>
              <a:ext cx="5679027" cy="68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3"/>
                </a:lnSpc>
              </a:pPr>
              <a:r>
                <a:rPr lang="en-US" sz="20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Validação automática de alterações</a:t>
              </a:r>
            </a:p>
            <a:p>
              <a:pPr algn="l">
                <a:lnSpc>
                  <a:spcPts val="1793"/>
                </a:lnSpc>
              </a:pP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29587" y="2819372"/>
              <a:ext cx="6591430" cy="68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3"/>
                </a:lnSpc>
              </a:pPr>
              <a:r>
                <a:rPr lang="en-US" sz="20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Empacotamento padronizado da aplicação</a:t>
              </a:r>
            </a:p>
            <a:p>
              <a:pPr algn="l">
                <a:lnSpc>
                  <a:spcPts val="1793"/>
                </a:lnSpc>
              </a:pP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520761" y="4144619"/>
              <a:ext cx="3337271" cy="68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3"/>
                </a:lnSpc>
              </a:pPr>
              <a:r>
                <a:rPr lang="en-US" sz="20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Deploy automatizado</a:t>
              </a:r>
            </a:p>
            <a:p>
              <a:pPr algn="l">
                <a:lnSpc>
                  <a:spcPts val="1793"/>
                </a:lnSpc>
              </a:pP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83974" y="5312023"/>
              <a:ext cx="4601076" cy="682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3"/>
                </a:lnSpc>
              </a:pPr>
              <a:r>
                <a:rPr lang="en-US" sz="2037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Redução de falhas manuais</a:t>
              </a:r>
            </a:p>
            <a:p>
              <a:pPr algn="l">
                <a:lnSpc>
                  <a:spcPts val="1793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097111" y="752413"/>
            <a:ext cx="4991209" cy="103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sz="7280" spc="-116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Resultados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9197" y="924610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39" y="0"/>
                </a:lnTo>
                <a:lnTo>
                  <a:pt x="499539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28707" y="0"/>
            <a:ext cx="11245686" cy="2352419"/>
            <a:chOff x="0" y="0"/>
            <a:chExt cx="1942786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2786" cy="406400"/>
            </a:xfrm>
            <a:custGeom>
              <a:avLst/>
              <a:gdLst/>
              <a:ahLst/>
              <a:cxnLst/>
              <a:rect r="r" b="b" t="t" l="l"/>
              <a:pathLst>
                <a:path h="406400" w="1942786">
                  <a:moveTo>
                    <a:pt x="1739586" y="0"/>
                  </a:moveTo>
                  <a:cubicBezTo>
                    <a:pt x="1851810" y="0"/>
                    <a:pt x="1942786" y="90976"/>
                    <a:pt x="1942786" y="203200"/>
                  </a:cubicBezTo>
                  <a:cubicBezTo>
                    <a:pt x="1942786" y="315424"/>
                    <a:pt x="1851810" y="406400"/>
                    <a:pt x="17395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4278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3066570"/>
            <a:ext cx="10302881" cy="7870668"/>
            <a:chOff x="0" y="0"/>
            <a:chExt cx="2143421" cy="16374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3421" cy="1637421"/>
            </a:xfrm>
            <a:custGeom>
              <a:avLst/>
              <a:gdLst/>
              <a:ahLst/>
              <a:cxnLst/>
              <a:rect r="r" b="b" t="t" l="l"/>
              <a:pathLst>
                <a:path h="1637421" w="2143421">
                  <a:moveTo>
                    <a:pt x="21792" y="0"/>
                  </a:moveTo>
                  <a:lnTo>
                    <a:pt x="2121630" y="0"/>
                  </a:lnTo>
                  <a:cubicBezTo>
                    <a:pt x="2127409" y="0"/>
                    <a:pt x="2132952" y="2296"/>
                    <a:pt x="2137039" y="6383"/>
                  </a:cubicBezTo>
                  <a:cubicBezTo>
                    <a:pt x="2141126" y="10469"/>
                    <a:pt x="2143421" y="16012"/>
                    <a:pt x="2143421" y="21792"/>
                  </a:cubicBezTo>
                  <a:lnTo>
                    <a:pt x="2143421" y="1615630"/>
                  </a:lnTo>
                  <a:cubicBezTo>
                    <a:pt x="2143421" y="1627665"/>
                    <a:pt x="2133665" y="1637421"/>
                    <a:pt x="2121630" y="1637421"/>
                  </a:cubicBezTo>
                  <a:lnTo>
                    <a:pt x="21792" y="1637421"/>
                  </a:lnTo>
                  <a:cubicBezTo>
                    <a:pt x="9756" y="1637421"/>
                    <a:pt x="0" y="1627665"/>
                    <a:pt x="0" y="1615630"/>
                  </a:cubicBezTo>
                  <a:lnTo>
                    <a:pt x="0" y="21792"/>
                  </a:lnTo>
                  <a:cubicBezTo>
                    <a:pt x="0" y="9756"/>
                    <a:pt x="9756" y="0"/>
                    <a:pt x="2179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451" r="0" b="-1545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800368"/>
            <a:ext cx="10302881" cy="5136870"/>
            <a:chOff x="0" y="0"/>
            <a:chExt cx="2285997" cy="11397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5997" cy="1139766"/>
            </a:xfrm>
            <a:custGeom>
              <a:avLst/>
              <a:gdLst/>
              <a:ahLst/>
              <a:cxnLst/>
              <a:rect r="r" b="b" t="t" l="l"/>
              <a:pathLst>
                <a:path h="1139766" w="2285997">
                  <a:moveTo>
                    <a:pt x="21040" y="0"/>
                  </a:moveTo>
                  <a:lnTo>
                    <a:pt x="2264957" y="0"/>
                  </a:lnTo>
                  <a:cubicBezTo>
                    <a:pt x="2270537" y="0"/>
                    <a:pt x="2275889" y="2217"/>
                    <a:pt x="2279834" y="6163"/>
                  </a:cubicBezTo>
                  <a:cubicBezTo>
                    <a:pt x="2283780" y="10108"/>
                    <a:pt x="2285997" y="15460"/>
                    <a:pt x="2285997" y="21040"/>
                  </a:cubicBezTo>
                  <a:lnTo>
                    <a:pt x="2285997" y="1118725"/>
                  </a:lnTo>
                  <a:cubicBezTo>
                    <a:pt x="2285997" y="1130346"/>
                    <a:pt x="2276577" y="1139766"/>
                    <a:pt x="2264957" y="1139766"/>
                  </a:cubicBezTo>
                  <a:lnTo>
                    <a:pt x="21040" y="1139766"/>
                  </a:lnTo>
                  <a:cubicBezTo>
                    <a:pt x="15460" y="1139766"/>
                    <a:pt x="10108" y="1137549"/>
                    <a:pt x="6163" y="1133603"/>
                  </a:cubicBezTo>
                  <a:cubicBezTo>
                    <a:pt x="2217" y="1129657"/>
                    <a:pt x="0" y="1124306"/>
                    <a:pt x="0" y="1118725"/>
                  </a:cubicBezTo>
                  <a:lnTo>
                    <a:pt x="0" y="21040"/>
                  </a:lnTo>
                  <a:cubicBezTo>
                    <a:pt x="0" y="15460"/>
                    <a:pt x="2217" y="10108"/>
                    <a:pt x="6163" y="6163"/>
                  </a:cubicBezTo>
                  <a:cubicBezTo>
                    <a:pt x="10108" y="2217"/>
                    <a:pt x="15460" y="0"/>
                    <a:pt x="210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285997" cy="11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831117" y="471070"/>
            <a:ext cx="9840865" cy="139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829" spc="-20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Desafio 2 — Docker, Monitoramento e Dashboard DevOps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92050" y="3066570"/>
            <a:ext cx="6964686" cy="6645580"/>
            <a:chOff x="0" y="0"/>
            <a:chExt cx="1834320" cy="17502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4320" cy="1750276"/>
            </a:xfrm>
            <a:custGeom>
              <a:avLst/>
              <a:gdLst/>
              <a:ahLst/>
              <a:cxnLst/>
              <a:rect r="r" b="b" t="t" l="l"/>
              <a:pathLst>
                <a:path h="1750276" w="1834320">
                  <a:moveTo>
                    <a:pt x="56691" y="0"/>
                  </a:moveTo>
                  <a:lnTo>
                    <a:pt x="1777629" y="0"/>
                  </a:lnTo>
                  <a:cubicBezTo>
                    <a:pt x="1808939" y="0"/>
                    <a:pt x="1834320" y="25382"/>
                    <a:pt x="1834320" y="56691"/>
                  </a:cubicBezTo>
                  <a:lnTo>
                    <a:pt x="1834320" y="1693585"/>
                  </a:lnTo>
                  <a:cubicBezTo>
                    <a:pt x="1834320" y="1708620"/>
                    <a:pt x="1828348" y="1723040"/>
                    <a:pt x="1817716" y="1733672"/>
                  </a:cubicBezTo>
                  <a:cubicBezTo>
                    <a:pt x="1807084" y="1744303"/>
                    <a:pt x="1792664" y="1750276"/>
                    <a:pt x="1777629" y="1750276"/>
                  </a:cubicBezTo>
                  <a:lnTo>
                    <a:pt x="56691" y="1750276"/>
                  </a:lnTo>
                  <a:cubicBezTo>
                    <a:pt x="41656" y="1750276"/>
                    <a:pt x="27236" y="1744303"/>
                    <a:pt x="16605" y="1733672"/>
                  </a:cubicBezTo>
                  <a:cubicBezTo>
                    <a:pt x="5973" y="1723040"/>
                    <a:pt x="0" y="1708620"/>
                    <a:pt x="0" y="1693585"/>
                  </a:cubicBezTo>
                  <a:lnTo>
                    <a:pt x="0" y="56691"/>
                  </a:lnTo>
                  <a:cubicBezTo>
                    <a:pt x="0" y="41656"/>
                    <a:pt x="5973" y="27236"/>
                    <a:pt x="16605" y="16605"/>
                  </a:cubicBezTo>
                  <a:cubicBezTo>
                    <a:pt x="27236" y="5973"/>
                    <a:pt x="41656" y="0"/>
                    <a:pt x="56691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834320" cy="1731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892050" y="4406682"/>
            <a:ext cx="7021112" cy="378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310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Durante o desenvolvimento do projeto DevOps, fui responsável pela implementação e organização do ambiente da aplicação utilizando tecnologias modernas de infraestrutura e monitoramento.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067880">
            <a:off x="-1227887" y="2551667"/>
            <a:ext cx="30205715" cy="18180272"/>
            <a:chOff x="0" y="0"/>
            <a:chExt cx="7955415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55414" cy="4788220"/>
            </a:xfrm>
            <a:custGeom>
              <a:avLst/>
              <a:gdLst/>
              <a:ahLst/>
              <a:cxnLst/>
              <a:rect r="r" b="b" t="t" l="l"/>
              <a:pathLst>
                <a:path h="4788220" w="7955414">
                  <a:moveTo>
                    <a:pt x="0" y="0"/>
                  </a:moveTo>
                  <a:lnTo>
                    <a:pt x="7955414" y="0"/>
                  </a:lnTo>
                  <a:lnTo>
                    <a:pt x="7955414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795541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120025" y="614378"/>
            <a:ext cx="3375470" cy="197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9"/>
              </a:lnSpc>
            </a:pPr>
            <a:r>
              <a:rPr lang="en-US" sz="5420" spc="-86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Principais atividades</a:t>
            </a:r>
          </a:p>
          <a:p>
            <a:pPr algn="l">
              <a:lnSpc>
                <a:spcPts val="476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766815" y="2222428"/>
            <a:ext cx="6081889" cy="5283238"/>
            <a:chOff x="0" y="0"/>
            <a:chExt cx="8109185" cy="704431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109185" cy="1052391"/>
              <a:chOff x="0" y="0"/>
              <a:chExt cx="1417549" cy="18396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479006"/>
              <a:ext cx="8109185" cy="1052391"/>
              <a:chOff x="0" y="0"/>
              <a:chExt cx="1417549" cy="18396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2956154"/>
              <a:ext cx="8109185" cy="1052391"/>
              <a:chOff x="0" y="0"/>
              <a:chExt cx="1417549" cy="18396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4433303"/>
              <a:ext cx="8109185" cy="1052391"/>
              <a:chOff x="0" y="0"/>
              <a:chExt cx="1417549" cy="18396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5910451"/>
              <a:ext cx="8109185" cy="1052391"/>
              <a:chOff x="0" y="0"/>
              <a:chExt cx="1417549" cy="18396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82641" y="286355"/>
              <a:ext cx="7377249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Integração completa do Docker ao projeto</a:t>
              </a:r>
            </a:p>
            <a:p>
              <a:pPr algn="l">
                <a:lnSpc>
                  <a:spcPts val="2006"/>
                </a:lnSpc>
              </a:pP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41487" y="1765360"/>
              <a:ext cx="5589678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Configuração do Dockerfile</a:t>
              </a:r>
            </a:p>
            <a:p>
              <a:pPr algn="l">
                <a:lnSpc>
                  <a:spcPts val="2006"/>
                </a:lnSpc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31936" y="3323984"/>
              <a:ext cx="6668665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Configuração do docker-compose.yml</a:t>
              </a:r>
            </a:p>
            <a:p>
              <a:pPr algn="l">
                <a:lnSpc>
                  <a:spcPts val="2006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31936" y="4626742"/>
              <a:ext cx="6668665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Conteinerização da aplicação e banco MySQL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731936" y="6278281"/>
              <a:ext cx="7027955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Ajustes de conectividade entre serviços</a:t>
              </a:r>
            </a:p>
            <a:p>
              <a:pPr algn="l">
                <a:lnSpc>
                  <a:spcPts val="200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757242" y="995970"/>
            <a:ext cx="5445996" cy="76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9"/>
              </a:lnSpc>
            </a:pPr>
            <a:r>
              <a:rPr lang="en-US" sz="5420" spc="-86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Funcionalidades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439296" y="2222428"/>
            <a:ext cx="6081889" cy="7437854"/>
            <a:chOff x="0" y="0"/>
            <a:chExt cx="8109185" cy="991713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8109185" cy="1052391"/>
              <a:chOff x="0" y="0"/>
              <a:chExt cx="1417549" cy="18396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1479006"/>
              <a:ext cx="8109185" cy="1052391"/>
              <a:chOff x="0" y="0"/>
              <a:chExt cx="1417549" cy="183966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2956154"/>
              <a:ext cx="8109185" cy="1052391"/>
              <a:chOff x="0" y="0"/>
              <a:chExt cx="1417549" cy="18396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4433303"/>
              <a:ext cx="8109185" cy="1052391"/>
              <a:chOff x="0" y="0"/>
              <a:chExt cx="1417549" cy="18396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5910451"/>
              <a:ext cx="8109185" cy="1052391"/>
              <a:chOff x="0" y="0"/>
              <a:chExt cx="1417549" cy="18396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0" y="7387600"/>
              <a:ext cx="8109185" cy="1052391"/>
              <a:chOff x="0" y="0"/>
              <a:chExt cx="1417549" cy="18396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8864748"/>
              <a:ext cx="8109185" cy="1052391"/>
              <a:chOff x="0" y="0"/>
              <a:chExt cx="1417549" cy="18396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382641" y="286355"/>
              <a:ext cx="4483602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Monitoramento de CPU</a:t>
              </a:r>
            </a:p>
            <a:p>
              <a:pPr algn="l">
                <a:lnSpc>
                  <a:spcPts val="2006"/>
                </a:lnSpc>
              </a:pP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41487" y="1765360"/>
              <a:ext cx="5932992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Monitoramento de Memória RAM</a:t>
              </a:r>
            </a:p>
            <a:p>
              <a:pPr algn="l">
                <a:lnSpc>
                  <a:spcPts val="2006"/>
                </a:lnSpc>
              </a:pP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731936" y="3323984"/>
              <a:ext cx="4608780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Monitoramento de Disco</a:t>
              </a:r>
            </a:p>
            <a:p>
              <a:pPr algn="l">
                <a:lnSpc>
                  <a:spcPts val="2006"/>
                </a:lnSpc>
              </a:pP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731936" y="4626742"/>
              <a:ext cx="3322657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Status do Sistema</a:t>
              </a:r>
            </a:p>
            <a:p>
              <a:pPr algn="l">
                <a:lnSpc>
                  <a:spcPts val="2006"/>
                </a:lnSpc>
              </a:pP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731936" y="6278281"/>
              <a:ext cx="3322657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Gráficos dinâmicos</a:t>
              </a:r>
            </a:p>
            <a:p>
              <a:pPr algn="l">
                <a:lnSpc>
                  <a:spcPts val="2006"/>
                </a:lnSpc>
              </a:pP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731936" y="7755429"/>
              <a:ext cx="4134307" cy="766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Atualização automática</a:t>
              </a:r>
            </a:p>
            <a:p>
              <a:pPr algn="l">
                <a:lnSpc>
                  <a:spcPts val="2006"/>
                </a:lnSpc>
              </a:pP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731936" y="9232578"/>
              <a:ext cx="4608780" cy="435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06"/>
                </a:lnSpc>
              </a:pPr>
              <a:r>
                <a:rPr lang="en-US" sz="2280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Outros...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011154">
            <a:off x="12221280" y="1436256"/>
            <a:ext cx="17403374" cy="18180272"/>
            <a:chOff x="0" y="0"/>
            <a:chExt cx="4583605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1790800"/>
            <a:ext cx="10547371" cy="8367282"/>
            <a:chOff x="0" y="0"/>
            <a:chExt cx="1177108" cy="933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7108" cy="933806"/>
            </a:xfrm>
            <a:custGeom>
              <a:avLst/>
              <a:gdLst/>
              <a:ahLst/>
              <a:cxnLst/>
              <a:rect r="r" b="b" t="t" l="l"/>
              <a:pathLst>
                <a:path h="933806" w="1177108">
                  <a:moveTo>
                    <a:pt x="35967" y="0"/>
                  </a:moveTo>
                  <a:lnTo>
                    <a:pt x="1141142" y="0"/>
                  </a:lnTo>
                  <a:cubicBezTo>
                    <a:pt x="1150681" y="0"/>
                    <a:pt x="1159829" y="3789"/>
                    <a:pt x="1166574" y="10534"/>
                  </a:cubicBezTo>
                  <a:cubicBezTo>
                    <a:pt x="1173319" y="17279"/>
                    <a:pt x="1177108" y="26428"/>
                    <a:pt x="1177108" y="35967"/>
                  </a:cubicBezTo>
                  <a:lnTo>
                    <a:pt x="1177108" y="897839"/>
                  </a:lnTo>
                  <a:cubicBezTo>
                    <a:pt x="1177108" y="907378"/>
                    <a:pt x="1173319" y="916526"/>
                    <a:pt x="1166574" y="923271"/>
                  </a:cubicBezTo>
                  <a:cubicBezTo>
                    <a:pt x="1159829" y="930017"/>
                    <a:pt x="1150681" y="933806"/>
                    <a:pt x="1141142" y="933806"/>
                  </a:cubicBezTo>
                  <a:lnTo>
                    <a:pt x="35967" y="933806"/>
                  </a:lnTo>
                  <a:cubicBezTo>
                    <a:pt x="26428" y="933806"/>
                    <a:pt x="17279" y="930017"/>
                    <a:pt x="10534" y="923271"/>
                  </a:cubicBezTo>
                  <a:cubicBezTo>
                    <a:pt x="3789" y="916526"/>
                    <a:pt x="0" y="907378"/>
                    <a:pt x="0" y="897839"/>
                  </a:cubicBezTo>
                  <a:lnTo>
                    <a:pt x="0" y="35967"/>
                  </a:lnTo>
                  <a:cubicBezTo>
                    <a:pt x="0" y="26428"/>
                    <a:pt x="3789" y="17279"/>
                    <a:pt x="10534" y="10534"/>
                  </a:cubicBezTo>
                  <a:cubicBezTo>
                    <a:pt x="17279" y="3789"/>
                    <a:pt x="26428" y="0"/>
                    <a:pt x="3596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943" r="0" b="-29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974441"/>
            <a:ext cx="10547371" cy="4183641"/>
            <a:chOff x="0" y="0"/>
            <a:chExt cx="2663990" cy="1056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3990" cy="1056678"/>
            </a:xfrm>
            <a:custGeom>
              <a:avLst/>
              <a:gdLst/>
              <a:ahLst/>
              <a:cxnLst/>
              <a:rect r="r" b="b" t="t" l="l"/>
              <a:pathLst>
                <a:path h="1056678" w="2663990">
                  <a:moveTo>
                    <a:pt x="37435" y="0"/>
                  </a:moveTo>
                  <a:lnTo>
                    <a:pt x="2626555" y="0"/>
                  </a:lnTo>
                  <a:cubicBezTo>
                    <a:pt x="2636483" y="0"/>
                    <a:pt x="2646005" y="3944"/>
                    <a:pt x="2653025" y="10964"/>
                  </a:cubicBezTo>
                  <a:cubicBezTo>
                    <a:pt x="2660046" y="17985"/>
                    <a:pt x="2663990" y="27506"/>
                    <a:pt x="2663990" y="37435"/>
                  </a:cubicBezTo>
                  <a:lnTo>
                    <a:pt x="2663990" y="1019244"/>
                  </a:lnTo>
                  <a:cubicBezTo>
                    <a:pt x="2663990" y="1029172"/>
                    <a:pt x="2660046" y="1038693"/>
                    <a:pt x="2653025" y="1045714"/>
                  </a:cubicBezTo>
                  <a:cubicBezTo>
                    <a:pt x="2646005" y="1052734"/>
                    <a:pt x="2636483" y="1056678"/>
                    <a:pt x="2626555" y="1056678"/>
                  </a:cubicBezTo>
                  <a:lnTo>
                    <a:pt x="37435" y="1056678"/>
                  </a:lnTo>
                  <a:cubicBezTo>
                    <a:pt x="27506" y="1056678"/>
                    <a:pt x="17985" y="1052734"/>
                    <a:pt x="10964" y="1045714"/>
                  </a:cubicBezTo>
                  <a:cubicBezTo>
                    <a:pt x="3944" y="1038693"/>
                    <a:pt x="0" y="1029172"/>
                    <a:pt x="0" y="1019244"/>
                  </a:cubicBezTo>
                  <a:lnTo>
                    <a:pt x="0" y="37435"/>
                  </a:lnTo>
                  <a:cubicBezTo>
                    <a:pt x="0" y="27506"/>
                    <a:pt x="3944" y="17985"/>
                    <a:pt x="10964" y="10964"/>
                  </a:cubicBezTo>
                  <a:cubicBezTo>
                    <a:pt x="17985" y="3944"/>
                    <a:pt x="27506" y="0"/>
                    <a:pt x="374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663990" cy="1037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57693" y="3648402"/>
            <a:ext cx="7151341" cy="4022491"/>
            <a:chOff x="0" y="0"/>
            <a:chExt cx="9535122" cy="536332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186317" cy="1062401"/>
              <a:chOff x="0" y="0"/>
              <a:chExt cx="1417549" cy="1839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48804" y="1405103"/>
              <a:ext cx="8186317" cy="1062401"/>
              <a:chOff x="0" y="0"/>
              <a:chExt cx="1417549" cy="1839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939" y="2894136"/>
              <a:ext cx="8186317" cy="1062401"/>
              <a:chOff x="0" y="0"/>
              <a:chExt cx="1417549" cy="1839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348804" y="4300920"/>
              <a:ext cx="8186317" cy="1062401"/>
              <a:chOff x="0" y="0"/>
              <a:chExt cx="1417549" cy="18396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738898" y="371147"/>
              <a:ext cx="662651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Ambiente totalmente containerizado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087702" y="1776250"/>
              <a:ext cx="641652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Dashboard funcional em tempo real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72388" y="3183034"/>
              <a:ext cx="7447420" cy="773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Integração com múltiplas fontes de dados</a:t>
              </a:r>
            </a:p>
            <a:p>
              <a:pPr algn="l">
                <a:lnSpc>
                  <a:spcPts val="2026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718253" y="4680382"/>
              <a:ext cx="4358633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Estrutura Git organizada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097111" y="752413"/>
            <a:ext cx="4991209" cy="103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sz="7280" spc="-116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Resultados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011154">
            <a:off x="12221280" y="1436256"/>
            <a:ext cx="17403374" cy="18180272"/>
            <a:chOff x="0" y="0"/>
            <a:chExt cx="4583605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7669" y="1589257"/>
            <a:ext cx="10259701" cy="8568826"/>
            <a:chOff x="0" y="0"/>
            <a:chExt cx="1177108" cy="983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7108" cy="983112"/>
            </a:xfrm>
            <a:custGeom>
              <a:avLst/>
              <a:gdLst/>
              <a:ahLst/>
              <a:cxnLst/>
              <a:rect r="r" b="b" t="t" l="l"/>
              <a:pathLst>
                <a:path h="983112" w="1177108">
                  <a:moveTo>
                    <a:pt x="36975" y="0"/>
                  </a:moveTo>
                  <a:lnTo>
                    <a:pt x="1140133" y="0"/>
                  </a:lnTo>
                  <a:cubicBezTo>
                    <a:pt x="1160554" y="0"/>
                    <a:pt x="1177108" y="16554"/>
                    <a:pt x="1177108" y="36975"/>
                  </a:cubicBezTo>
                  <a:lnTo>
                    <a:pt x="1177108" y="946137"/>
                  </a:lnTo>
                  <a:cubicBezTo>
                    <a:pt x="1177108" y="966558"/>
                    <a:pt x="1160554" y="983112"/>
                    <a:pt x="1140133" y="983112"/>
                  </a:cubicBezTo>
                  <a:lnTo>
                    <a:pt x="36975" y="983112"/>
                  </a:lnTo>
                  <a:cubicBezTo>
                    <a:pt x="16554" y="983112"/>
                    <a:pt x="0" y="966558"/>
                    <a:pt x="0" y="946137"/>
                  </a:cubicBezTo>
                  <a:lnTo>
                    <a:pt x="0" y="36975"/>
                  </a:lnTo>
                  <a:cubicBezTo>
                    <a:pt x="0" y="16554"/>
                    <a:pt x="16554" y="0"/>
                    <a:pt x="3697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029" r="0" b="-402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974441"/>
            <a:ext cx="10547371" cy="4183641"/>
            <a:chOff x="0" y="0"/>
            <a:chExt cx="2663990" cy="1056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3990" cy="1056678"/>
            </a:xfrm>
            <a:custGeom>
              <a:avLst/>
              <a:gdLst/>
              <a:ahLst/>
              <a:cxnLst/>
              <a:rect r="r" b="b" t="t" l="l"/>
              <a:pathLst>
                <a:path h="1056678" w="2663990">
                  <a:moveTo>
                    <a:pt x="37435" y="0"/>
                  </a:moveTo>
                  <a:lnTo>
                    <a:pt x="2626555" y="0"/>
                  </a:lnTo>
                  <a:cubicBezTo>
                    <a:pt x="2636483" y="0"/>
                    <a:pt x="2646005" y="3944"/>
                    <a:pt x="2653025" y="10964"/>
                  </a:cubicBezTo>
                  <a:cubicBezTo>
                    <a:pt x="2660046" y="17985"/>
                    <a:pt x="2663990" y="27506"/>
                    <a:pt x="2663990" y="37435"/>
                  </a:cubicBezTo>
                  <a:lnTo>
                    <a:pt x="2663990" y="1019244"/>
                  </a:lnTo>
                  <a:cubicBezTo>
                    <a:pt x="2663990" y="1029172"/>
                    <a:pt x="2660046" y="1038693"/>
                    <a:pt x="2653025" y="1045714"/>
                  </a:cubicBezTo>
                  <a:cubicBezTo>
                    <a:pt x="2646005" y="1052734"/>
                    <a:pt x="2636483" y="1056678"/>
                    <a:pt x="2626555" y="1056678"/>
                  </a:cubicBezTo>
                  <a:lnTo>
                    <a:pt x="37435" y="1056678"/>
                  </a:lnTo>
                  <a:cubicBezTo>
                    <a:pt x="27506" y="1056678"/>
                    <a:pt x="17985" y="1052734"/>
                    <a:pt x="10964" y="1045714"/>
                  </a:cubicBezTo>
                  <a:cubicBezTo>
                    <a:pt x="3944" y="1038693"/>
                    <a:pt x="0" y="1029172"/>
                    <a:pt x="0" y="1019244"/>
                  </a:cubicBezTo>
                  <a:lnTo>
                    <a:pt x="0" y="37435"/>
                  </a:lnTo>
                  <a:cubicBezTo>
                    <a:pt x="0" y="27506"/>
                    <a:pt x="3944" y="17985"/>
                    <a:pt x="10964" y="10964"/>
                  </a:cubicBezTo>
                  <a:cubicBezTo>
                    <a:pt x="17985" y="3944"/>
                    <a:pt x="27506" y="0"/>
                    <a:pt x="374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663990" cy="1037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57693" y="3648402"/>
            <a:ext cx="7151341" cy="4022491"/>
            <a:chOff x="0" y="0"/>
            <a:chExt cx="9535122" cy="536332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186317" cy="1062401"/>
              <a:chOff x="0" y="0"/>
              <a:chExt cx="1417549" cy="1839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48804" y="1405103"/>
              <a:ext cx="8186317" cy="1062401"/>
              <a:chOff x="0" y="0"/>
              <a:chExt cx="1417549" cy="1839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939" y="2894136"/>
              <a:ext cx="8186317" cy="1062401"/>
              <a:chOff x="0" y="0"/>
              <a:chExt cx="1417549" cy="1839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348804" y="4300920"/>
              <a:ext cx="8186317" cy="1062401"/>
              <a:chOff x="0" y="0"/>
              <a:chExt cx="1417549" cy="18396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738898" y="371147"/>
              <a:ext cx="662651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Ambiente totalmente containerizado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087702" y="1776250"/>
              <a:ext cx="641652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Dashboard funcional em tempo real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72388" y="3183034"/>
              <a:ext cx="7447420" cy="773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Integração com múltiplas fontes de dados</a:t>
              </a:r>
            </a:p>
            <a:p>
              <a:pPr algn="l">
                <a:lnSpc>
                  <a:spcPts val="2026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718253" y="4680382"/>
              <a:ext cx="4358633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Estrutura Git organizada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097111" y="752413"/>
            <a:ext cx="4991209" cy="103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sz="7280" spc="-116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Resultados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011154">
            <a:off x="12221280" y="1436256"/>
            <a:ext cx="17403374" cy="18180272"/>
            <a:chOff x="0" y="0"/>
            <a:chExt cx="4583605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83126" y="1583320"/>
            <a:ext cx="5854544" cy="8388550"/>
            <a:chOff x="0" y="0"/>
            <a:chExt cx="651723" cy="9338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1723" cy="933806"/>
            </a:xfrm>
            <a:custGeom>
              <a:avLst/>
              <a:gdLst/>
              <a:ahLst/>
              <a:cxnLst/>
              <a:rect r="r" b="b" t="t" l="l"/>
              <a:pathLst>
                <a:path h="933806" w="651723">
                  <a:moveTo>
                    <a:pt x="64797" y="0"/>
                  </a:moveTo>
                  <a:lnTo>
                    <a:pt x="586926" y="0"/>
                  </a:lnTo>
                  <a:cubicBezTo>
                    <a:pt x="604111" y="0"/>
                    <a:pt x="620592" y="6827"/>
                    <a:pt x="632744" y="18978"/>
                  </a:cubicBezTo>
                  <a:cubicBezTo>
                    <a:pt x="644896" y="31130"/>
                    <a:pt x="651723" y="47611"/>
                    <a:pt x="651723" y="64797"/>
                  </a:cubicBezTo>
                  <a:lnTo>
                    <a:pt x="651723" y="869009"/>
                  </a:lnTo>
                  <a:cubicBezTo>
                    <a:pt x="651723" y="886194"/>
                    <a:pt x="644896" y="902676"/>
                    <a:pt x="632744" y="914827"/>
                  </a:cubicBezTo>
                  <a:cubicBezTo>
                    <a:pt x="620592" y="926979"/>
                    <a:pt x="604111" y="933806"/>
                    <a:pt x="586926" y="933806"/>
                  </a:cubicBezTo>
                  <a:lnTo>
                    <a:pt x="64797" y="933806"/>
                  </a:lnTo>
                  <a:cubicBezTo>
                    <a:pt x="29010" y="933806"/>
                    <a:pt x="0" y="904796"/>
                    <a:pt x="0" y="869009"/>
                  </a:cubicBezTo>
                  <a:lnTo>
                    <a:pt x="0" y="64797"/>
                  </a:lnTo>
                  <a:cubicBezTo>
                    <a:pt x="0" y="47611"/>
                    <a:pt x="6827" y="31130"/>
                    <a:pt x="18978" y="18978"/>
                  </a:cubicBezTo>
                  <a:cubicBezTo>
                    <a:pt x="31130" y="6827"/>
                    <a:pt x="47611" y="0"/>
                    <a:pt x="6479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312" r="0" b="-431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974441"/>
            <a:ext cx="10547371" cy="4183641"/>
            <a:chOff x="0" y="0"/>
            <a:chExt cx="2663990" cy="1056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3990" cy="1056678"/>
            </a:xfrm>
            <a:custGeom>
              <a:avLst/>
              <a:gdLst/>
              <a:ahLst/>
              <a:cxnLst/>
              <a:rect r="r" b="b" t="t" l="l"/>
              <a:pathLst>
                <a:path h="1056678" w="2663990">
                  <a:moveTo>
                    <a:pt x="37435" y="0"/>
                  </a:moveTo>
                  <a:lnTo>
                    <a:pt x="2626555" y="0"/>
                  </a:lnTo>
                  <a:cubicBezTo>
                    <a:pt x="2636483" y="0"/>
                    <a:pt x="2646005" y="3944"/>
                    <a:pt x="2653025" y="10964"/>
                  </a:cubicBezTo>
                  <a:cubicBezTo>
                    <a:pt x="2660046" y="17985"/>
                    <a:pt x="2663990" y="27506"/>
                    <a:pt x="2663990" y="37435"/>
                  </a:cubicBezTo>
                  <a:lnTo>
                    <a:pt x="2663990" y="1019244"/>
                  </a:lnTo>
                  <a:cubicBezTo>
                    <a:pt x="2663990" y="1029172"/>
                    <a:pt x="2660046" y="1038693"/>
                    <a:pt x="2653025" y="1045714"/>
                  </a:cubicBezTo>
                  <a:cubicBezTo>
                    <a:pt x="2646005" y="1052734"/>
                    <a:pt x="2636483" y="1056678"/>
                    <a:pt x="2626555" y="1056678"/>
                  </a:cubicBezTo>
                  <a:lnTo>
                    <a:pt x="37435" y="1056678"/>
                  </a:lnTo>
                  <a:cubicBezTo>
                    <a:pt x="27506" y="1056678"/>
                    <a:pt x="17985" y="1052734"/>
                    <a:pt x="10964" y="1045714"/>
                  </a:cubicBezTo>
                  <a:cubicBezTo>
                    <a:pt x="3944" y="1038693"/>
                    <a:pt x="0" y="1029172"/>
                    <a:pt x="0" y="1019244"/>
                  </a:cubicBezTo>
                  <a:lnTo>
                    <a:pt x="0" y="37435"/>
                  </a:lnTo>
                  <a:cubicBezTo>
                    <a:pt x="0" y="27506"/>
                    <a:pt x="3944" y="17985"/>
                    <a:pt x="10964" y="10964"/>
                  </a:cubicBezTo>
                  <a:cubicBezTo>
                    <a:pt x="17985" y="3944"/>
                    <a:pt x="27506" y="0"/>
                    <a:pt x="374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663990" cy="1037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57693" y="3648402"/>
            <a:ext cx="7151341" cy="4022491"/>
            <a:chOff x="0" y="0"/>
            <a:chExt cx="9535122" cy="5363321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186317" cy="1062401"/>
              <a:chOff x="0" y="0"/>
              <a:chExt cx="1417549" cy="1839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48804" y="1405103"/>
              <a:ext cx="8186317" cy="1062401"/>
              <a:chOff x="0" y="0"/>
              <a:chExt cx="1417549" cy="1839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939" y="2894136"/>
              <a:ext cx="8186317" cy="1062401"/>
              <a:chOff x="0" y="0"/>
              <a:chExt cx="1417549" cy="1839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348804" y="4300920"/>
              <a:ext cx="8186317" cy="1062401"/>
              <a:chOff x="0" y="0"/>
              <a:chExt cx="1417549" cy="18396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9919" y="0"/>
                    </a:moveTo>
                    <a:lnTo>
                      <a:pt x="1387630" y="0"/>
                    </a:lnTo>
                    <a:cubicBezTo>
                      <a:pt x="1404154" y="0"/>
                      <a:pt x="1417549" y="13395"/>
                      <a:pt x="1417549" y="29919"/>
                    </a:cubicBezTo>
                    <a:lnTo>
                      <a:pt x="1417549" y="154047"/>
                    </a:lnTo>
                    <a:cubicBezTo>
                      <a:pt x="1417549" y="170571"/>
                      <a:pt x="1404154" y="183966"/>
                      <a:pt x="1387630" y="183966"/>
                    </a:cubicBezTo>
                    <a:lnTo>
                      <a:pt x="29919" y="183966"/>
                    </a:lnTo>
                    <a:cubicBezTo>
                      <a:pt x="13395" y="183966"/>
                      <a:pt x="0" y="170571"/>
                      <a:pt x="0" y="154047"/>
                    </a:cubicBezTo>
                    <a:lnTo>
                      <a:pt x="0" y="29919"/>
                    </a:lnTo>
                    <a:cubicBezTo>
                      <a:pt x="0" y="13395"/>
                      <a:pt x="13395" y="0"/>
                      <a:pt x="29919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738898" y="371147"/>
              <a:ext cx="662651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Ambiente totalmente containerizado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087702" y="1776250"/>
              <a:ext cx="641652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Dashboard funcional em tempo real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72388" y="3183034"/>
              <a:ext cx="7447420" cy="7735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Integração com múltiplas fontes de dados</a:t>
              </a:r>
            </a:p>
            <a:p>
              <a:pPr algn="l">
                <a:lnSpc>
                  <a:spcPts val="2026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718253" y="4680382"/>
              <a:ext cx="4358633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Estrutura Git organizada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097111" y="752413"/>
            <a:ext cx="4991209" cy="103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sz="7280" spc="-116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Resultados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9197" y="924610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39" y="0"/>
                </a:lnTo>
                <a:lnTo>
                  <a:pt x="499539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28707" y="0"/>
            <a:ext cx="11245686" cy="2352419"/>
            <a:chOff x="0" y="0"/>
            <a:chExt cx="1942786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2786" cy="406400"/>
            </a:xfrm>
            <a:custGeom>
              <a:avLst/>
              <a:gdLst/>
              <a:ahLst/>
              <a:cxnLst/>
              <a:rect r="r" b="b" t="t" l="l"/>
              <a:pathLst>
                <a:path h="406400" w="1942786">
                  <a:moveTo>
                    <a:pt x="1739586" y="0"/>
                  </a:moveTo>
                  <a:cubicBezTo>
                    <a:pt x="1851810" y="0"/>
                    <a:pt x="1942786" y="90976"/>
                    <a:pt x="1942786" y="203200"/>
                  </a:cubicBezTo>
                  <a:cubicBezTo>
                    <a:pt x="1942786" y="315424"/>
                    <a:pt x="1851810" y="406400"/>
                    <a:pt x="17395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4278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3066570"/>
            <a:ext cx="10302881" cy="7870668"/>
            <a:chOff x="0" y="0"/>
            <a:chExt cx="2143421" cy="16374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3421" cy="1637421"/>
            </a:xfrm>
            <a:custGeom>
              <a:avLst/>
              <a:gdLst/>
              <a:ahLst/>
              <a:cxnLst/>
              <a:rect r="r" b="b" t="t" l="l"/>
              <a:pathLst>
                <a:path h="1637421" w="2143421">
                  <a:moveTo>
                    <a:pt x="21792" y="0"/>
                  </a:moveTo>
                  <a:lnTo>
                    <a:pt x="2121630" y="0"/>
                  </a:lnTo>
                  <a:cubicBezTo>
                    <a:pt x="2127409" y="0"/>
                    <a:pt x="2132952" y="2296"/>
                    <a:pt x="2137039" y="6383"/>
                  </a:cubicBezTo>
                  <a:cubicBezTo>
                    <a:pt x="2141126" y="10469"/>
                    <a:pt x="2143421" y="16012"/>
                    <a:pt x="2143421" y="21792"/>
                  </a:cubicBezTo>
                  <a:lnTo>
                    <a:pt x="2143421" y="1615630"/>
                  </a:lnTo>
                  <a:cubicBezTo>
                    <a:pt x="2143421" y="1627665"/>
                    <a:pt x="2133665" y="1637421"/>
                    <a:pt x="2121630" y="1637421"/>
                  </a:cubicBezTo>
                  <a:lnTo>
                    <a:pt x="21792" y="1637421"/>
                  </a:lnTo>
                  <a:cubicBezTo>
                    <a:pt x="9756" y="1637421"/>
                    <a:pt x="0" y="1627665"/>
                    <a:pt x="0" y="1615630"/>
                  </a:cubicBezTo>
                  <a:lnTo>
                    <a:pt x="0" y="21792"/>
                  </a:lnTo>
                  <a:cubicBezTo>
                    <a:pt x="0" y="9756"/>
                    <a:pt x="9756" y="0"/>
                    <a:pt x="2179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5451" r="0" b="-1545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5800368"/>
            <a:ext cx="10302881" cy="5136870"/>
            <a:chOff x="0" y="0"/>
            <a:chExt cx="2285997" cy="11397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5997" cy="1139766"/>
            </a:xfrm>
            <a:custGeom>
              <a:avLst/>
              <a:gdLst/>
              <a:ahLst/>
              <a:cxnLst/>
              <a:rect r="r" b="b" t="t" l="l"/>
              <a:pathLst>
                <a:path h="1139766" w="2285997">
                  <a:moveTo>
                    <a:pt x="21040" y="0"/>
                  </a:moveTo>
                  <a:lnTo>
                    <a:pt x="2264957" y="0"/>
                  </a:lnTo>
                  <a:cubicBezTo>
                    <a:pt x="2270537" y="0"/>
                    <a:pt x="2275889" y="2217"/>
                    <a:pt x="2279834" y="6163"/>
                  </a:cubicBezTo>
                  <a:cubicBezTo>
                    <a:pt x="2283780" y="10108"/>
                    <a:pt x="2285997" y="15460"/>
                    <a:pt x="2285997" y="21040"/>
                  </a:cubicBezTo>
                  <a:lnTo>
                    <a:pt x="2285997" y="1118725"/>
                  </a:lnTo>
                  <a:cubicBezTo>
                    <a:pt x="2285997" y="1130346"/>
                    <a:pt x="2276577" y="1139766"/>
                    <a:pt x="2264957" y="1139766"/>
                  </a:cubicBezTo>
                  <a:lnTo>
                    <a:pt x="21040" y="1139766"/>
                  </a:lnTo>
                  <a:cubicBezTo>
                    <a:pt x="15460" y="1139766"/>
                    <a:pt x="10108" y="1137549"/>
                    <a:pt x="6163" y="1133603"/>
                  </a:cubicBezTo>
                  <a:cubicBezTo>
                    <a:pt x="2217" y="1129657"/>
                    <a:pt x="0" y="1124306"/>
                    <a:pt x="0" y="1118725"/>
                  </a:cubicBezTo>
                  <a:lnTo>
                    <a:pt x="0" y="21040"/>
                  </a:lnTo>
                  <a:cubicBezTo>
                    <a:pt x="0" y="15460"/>
                    <a:pt x="2217" y="10108"/>
                    <a:pt x="6163" y="6163"/>
                  </a:cubicBezTo>
                  <a:cubicBezTo>
                    <a:pt x="10108" y="2217"/>
                    <a:pt x="15460" y="0"/>
                    <a:pt x="210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285997" cy="11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92050" y="3066570"/>
            <a:ext cx="6964686" cy="6645580"/>
            <a:chOff x="0" y="0"/>
            <a:chExt cx="1834320" cy="17502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4320" cy="1750276"/>
            </a:xfrm>
            <a:custGeom>
              <a:avLst/>
              <a:gdLst/>
              <a:ahLst/>
              <a:cxnLst/>
              <a:rect r="r" b="b" t="t" l="l"/>
              <a:pathLst>
                <a:path h="1750276" w="1834320">
                  <a:moveTo>
                    <a:pt x="56691" y="0"/>
                  </a:moveTo>
                  <a:lnTo>
                    <a:pt x="1777629" y="0"/>
                  </a:lnTo>
                  <a:cubicBezTo>
                    <a:pt x="1808939" y="0"/>
                    <a:pt x="1834320" y="25382"/>
                    <a:pt x="1834320" y="56691"/>
                  </a:cubicBezTo>
                  <a:lnTo>
                    <a:pt x="1834320" y="1693585"/>
                  </a:lnTo>
                  <a:cubicBezTo>
                    <a:pt x="1834320" y="1708620"/>
                    <a:pt x="1828348" y="1723040"/>
                    <a:pt x="1817716" y="1733672"/>
                  </a:cubicBezTo>
                  <a:cubicBezTo>
                    <a:pt x="1807084" y="1744303"/>
                    <a:pt x="1792664" y="1750276"/>
                    <a:pt x="1777629" y="1750276"/>
                  </a:cubicBezTo>
                  <a:lnTo>
                    <a:pt x="56691" y="1750276"/>
                  </a:lnTo>
                  <a:cubicBezTo>
                    <a:pt x="41656" y="1750276"/>
                    <a:pt x="27236" y="1744303"/>
                    <a:pt x="16605" y="1733672"/>
                  </a:cubicBezTo>
                  <a:cubicBezTo>
                    <a:pt x="5973" y="1723040"/>
                    <a:pt x="0" y="1708620"/>
                    <a:pt x="0" y="1693585"/>
                  </a:cubicBezTo>
                  <a:lnTo>
                    <a:pt x="0" y="56691"/>
                  </a:lnTo>
                  <a:cubicBezTo>
                    <a:pt x="0" y="41656"/>
                    <a:pt x="5973" y="27236"/>
                    <a:pt x="16605" y="16605"/>
                  </a:cubicBezTo>
                  <a:cubicBezTo>
                    <a:pt x="27236" y="5973"/>
                    <a:pt x="41656" y="0"/>
                    <a:pt x="56691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834320" cy="1731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831117" y="471070"/>
            <a:ext cx="9840865" cy="139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829" spc="-20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Desafio 3 — Kubernetes e Helm para Deploy Multiambiente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92050" y="4406682"/>
            <a:ext cx="7021112" cy="315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1"/>
              </a:lnSpc>
            </a:pPr>
            <a:r>
              <a:rPr lang="en-US" sz="310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Implementação de uma solução de orquestração de containers utilizando Kubernetes e Helm com foco em deploy multiambiente.</a:t>
            </a:r>
          </a:p>
          <a:p>
            <a:pPr algn="l">
              <a:lnSpc>
                <a:spcPts val="4941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011154">
            <a:off x="8869001" y="-1023874"/>
            <a:ext cx="17403374" cy="18180272"/>
            <a:chOff x="0" y="0"/>
            <a:chExt cx="4583605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3870" y="2481119"/>
            <a:ext cx="10757693" cy="7467356"/>
            <a:chOff x="0" y="0"/>
            <a:chExt cx="1287144" cy="8934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7144" cy="893460"/>
            </a:xfrm>
            <a:custGeom>
              <a:avLst/>
              <a:gdLst/>
              <a:ahLst/>
              <a:cxnLst/>
              <a:rect r="r" b="b" t="t" l="l"/>
              <a:pathLst>
                <a:path h="893460" w="1287144">
                  <a:moveTo>
                    <a:pt x="35264" y="0"/>
                  </a:moveTo>
                  <a:lnTo>
                    <a:pt x="1251880" y="0"/>
                  </a:lnTo>
                  <a:cubicBezTo>
                    <a:pt x="1271356" y="0"/>
                    <a:pt x="1287144" y="15788"/>
                    <a:pt x="1287144" y="35264"/>
                  </a:cubicBezTo>
                  <a:lnTo>
                    <a:pt x="1287144" y="858196"/>
                  </a:lnTo>
                  <a:cubicBezTo>
                    <a:pt x="1287144" y="877672"/>
                    <a:pt x="1271356" y="893460"/>
                    <a:pt x="1251880" y="893460"/>
                  </a:cubicBezTo>
                  <a:lnTo>
                    <a:pt x="35264" y="893460"/>
                  </a:lnTo>
                  <a:cubicBezTo>
                    <a:pt x="25911" y="893460"/>
                    <a:pt x="16942" y="889744"/>
                    <a:pt x="10328" y="883131"/>
                  </a:cubicBezTo>
                  <a:cubicBezTo>
                    <a:pt x="3715" y="876518"/>
                    <a:pt x="0" y="867548"/>
                    <a:pt x="0" y="858196"/>
                  </a:cubicBezTo>
                  <a:lnTo>
                    <a:pt x="0" y="35264"/>
                  </a:lnTo>
                  <a:cubicBezTo>
                    <a:pt x="0" y="15788"/>
                    <a:pt x="15788" y="0"/>
                    <a:pt x="35264" y="0"/>
                  </a:cubicBezTo>
                  <a:close/>
                </a:path>
              </a:pathLst>
            </a:custGeom>
            <a:blipFill>
              <a:blip r:embed="rId4"/>
              <a:stretch>
                <a:fillRect l="-482" t="0" r="-48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3870" y="5764834"/>
            <a:ext cx="10757693" cy="4183641"/>
            <a:chOff x="0" y="0"/>
            <a:chExt cx="2717112" cy="1056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17111" cy="1056678"/>
            </a:xfrm>
            <a:custGeom>
              <a:avLst/>
              <a:gdLst/>
              <a:ahLst/>
              <a:cxnLst/>
              <a:rect r="r" b="b" t="t" l="l"/>
              <a:pathLst>
                <a:path h="1056678" w="2717111">
                  <a:moveTo>
                    <a:pt x="36703" y="0"/>
                  </a:moveTo>
                  <a:lnTo>
                    <a:pt x="2680409" y="0"/>
                  </a:lnTo>
                  <a:cubicBezTo>
                    <a:pt x="2690143" y="0"/>
                    <a:pt x="2699478" y="3867"/>
                    <a:pt x="2706362" y="10750"/>
                  </a:cubicBezTo>
                  <a:cubicBezTo>
                    <a:pt x="2713245" y="17633"/>
                    <a:pt x="2717111" y="26969"/>
                    <a:pt x="2717111" y="36703"/>
                  </a:cubicBezTo>
                  <a:lnTo>
                    <a:pt x="2717111" y="1019975"/>
                  </a:lnTo>
                  <a:cubicBezTo>
                    <a:pt x="2717111" y="1029710"/>
                    <a:pt x="2713245" y="1039045"/>
                    <a:pt x="2706362" y="1045928"/>
                  </a:cubicBezTo>
                  <a:cubicBezTo>
                    <a:pt x="2699478" y="1052811"/>
                    <a:pt x="2690143" y="1056678"/>
                    <a:pt x="2680409" y="1056678"/>
                  </a:cubicBezTo>
                  <a:lnTo>
                    <a:pt x="36703" y="1056678"/>
                  </a:lnTo>
                  <a:cubicBezTo>
                    <a:pt x="26969" y="1056678"/>
                    <a:pt x="17633" y="1052811"/>
                    <a:pt x="10750" y="1045928"/>
                  </a:cubicBezTo>
                  <a:cubicBezTo>
                    <a:pt x="3867" y="1039045"/>
                    <a:pt x="0" y="1029710"/>
                    <a:pt x="0" y="1019975"/>
                  </a:cubicBezTo>
                  <a:lnTo>
                    <a:pt x="0" y="36703"/>
                  </a:lnTo>
                  <a:cubicBezTo>
                    <a:pt x="0" y="26969"/>
                    <a:pt x="3867" y="17633"/>
                    <a:pt x="10750" y="10750"/>
                  </a:cubicBezTo>
                  <a:cubicBezTo>
                    <a:pt x="17633" y="3867"/>
                    <a:pt x="26969" y="0"/>
                    <a:pt x="367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717112" cy="1037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57693" y="1028700"/>
            <a:ext cx="7151341" cy="8447404"/>
            <a:chOff x="0" y="0"/>
            <a:chExt cx="9535122" cy="1126320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186317" cy="1062401"/>
              <a:chOff x="0" y="0"/>
              <a:chExt cx="1417549" cy="1839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48804" y="1405103"/>
              <a:ext cx="8186317" cy="1062401"/>
              <a:chOff x="0" y="0"/>
              <a:chExt cx="1417549" cy="1839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939" y="2894136"/>
              <a:ext cx="8186317" cy="1062401"/>
              <a:chOff x="0" y="0"/>
              <a:chExt cx="1417549" cy="1839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348804" y="4300920"/>
              <a:ext cx="8186317" cy="1062401"/>
              <a:chOff x="0" y="0"/>
              <a:chExt cx="1417549" cy="18396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72388" y="368597"/>
              <a:ext cx="744742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Item Status Helm instalado e configurado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087702" y="1776250"/>
              <a:ext cx="641652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Cluster Kubernetes funcionando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72388" y="3183034"/>
              <a:ext cx="744742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Chart criado com templates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718253" y="4680382"/>
              <a:ext cx="484066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Deploy DEV com 1 réplica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0" y="5899884"/>
              <a:ext cx="8186317" cy="1062401"/>
              <a:chOff x="0" y="0"/>
              <a:chExt cx="1417549" cy="18396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348804" y="7304987"/>
              <a:ext cx="8186317" cy="1062401"/>
              <a:chOff x="0" y="0"/>
              <a:chExt cx="1417549" cy="18396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939" y="8794021"/>
              <a:ext cx="8186317" cy="1062401"/>
              <a:chOff x="0" y="0"/>
              <a:chExt cx="1417549" cy="18396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348804" y="10200804"/>
              <a:ext cx="8186317" cy="1062401"/>
              <a:chOff x="0" y="0"/>
              <a:chExt cx="1417549" cy="18396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738898" y="6271031"/>
              <a:ext cx="662651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Deploy PROD com 3 réplicas 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087702" y="7676134"/>
              <a:ext cx="641652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Port-forward funcionando 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72388" y="9082918"/>
              <a:ext cx="744742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Aplicação acessível via navegador 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718253" y="10580266"/>
              <a:ext cx="6785977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Rollback executado com sucesso 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3097111" y="752413"/>
            <a:ext cx="4991209" cy="103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sz="7280" spc="-116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Resultados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011154">
            <a:off x="8869001" y="-1023874"/>
            <a:ext cx="17403374" cy="18180272"/>
            <a:chOff x="0" y="0"/>
            <a:chExt cx="4583605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3870" y="1844420"/>
            <a:ext cx="10757693" cy="7631684"/>
            <a:chOff x="0" y="0"/>
            <a:chExt cx="1287144" cy="9131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7144" cy="913121"/>
            </a:xfrm>
            <a:custGeom>
              <a:avLst/>
              <a:gdLst/>
              <a:ahLst/>
              <a:cxnLst/>
              <a:rect r="r" b="b" t="t" l="l"/>
              <a:pathLst>
                <a:path h="913121" w="1287144">
                  <a:moveTo>
                    <a:pt x="35264" y="0"/>
                  </a:moveTo>
                  <a:lnTo>
                    <a:pt x="1251880" y="0"/>
                  </a:lnTo>
                  <a:cubicBezTo>
                    <a:pt x="1271356" y="0"/>
                    <a:pt x="1287144" y="15788"/>
                    <a:pt x="1287144" y="35264"/>
                  </a:cubicBezTo>
                  <a:lnTo>
                    <a:pt x="1287144" y="877858"/>
                  </a:lnTo>
                  <a:cubicBezTo>
                    <a:pt x="1287144" y="897333"/>
                    <a:pt x="1271356" y="913121"/>
                    <a:pt x="1251880" y="913121"/>
                  </a:cubicBezTo>
                  <a:lnTo>
                    <a:pt x="35264" y="913121"/>
                  </a:lnTo>
                  <a:cubicBezTo>
                    <a:pt x="25911" y="913121"/>
                    <a:pt x="16942" y="909406"/>
                    <a:pt x="10328" y="902793"/>
                  </a:cubicBezTo>
                  <a:cubicBezTo>
                    <a:pt x="3715" y="896180"/>
                    <a:pt x="0" y="887210"/>
                    <a:pt x="0" y="877858"/>
                  </a:cubicBezTo>
                  <a:lnTo>
                    <a:pt x="0" y="35264"/>
                  </a:lnTo>
                  <a:cubicBezTo>
                    <a:pt x="0" y="15788"/>
                    <a:pt x="15788" y="0"/>
                    <a:pt x="3526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477" r="0" b="-347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3870" y="5292463"/>
            <a:ext cx="10757693" cy="4183641"/>
            <a:chOff x="0" y="0"/>
            <a:chExt cx="2717112" cy="1056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17111" cy="1056678"/>
            </a:xfrm>
            <a:custGeom>
              <a:avLst/>
              <a:gdLst/>
              <a:ahLst/>
              <a:cxnLst/>
              <a:rect r="r" b="b" t="t" l="l"/>
              <a:pathLst>
                <a:path h="1056678" w="2717111">
                  <a:moveTo>
                    <a:pt x="36703" y="0"/>
                  </a:moveTo>
                  <a:lnTo>
                    <a:pt x="2680409" y="0"/>
                  </a:lnTo>
                  <a:cubicBezTo>
                    <a:pt x="2690143" y="0"/>
                    <a:pt x="2699478" y="3867"/>
                    <a:pt x="2706362" y="10750"/>
                  </a:cubicBezTo>
                  <a:cubicBezTo>
                    <a:pt x="2713245" y="17633"/>
                    <a:pt x="2717111" y="26969"/>
                    <a:pt x="2717111" y="36703"/>
                  </a:cubicBezTo>
                  <a:lnTo>
                    <a:pt x="2717111" y="1019975"/>
                  </a:lnTo>
                  <a:cubicBezTo>
                    <a:pt x="2717111" y="1029710"/>
                    <a:pt x="2713245" y="1039045"/>
                    <a:pt x="2706362" y="1045928"/>
                  </a:cubicBezTo>
                  <a:cubicBezTo>
                    <a:pt x="2699478" y="1052811"/>
                    <a:pt x="2690143" y="1056678"/>
                    <a:pt x="2680409" y="1056678"/>
                  </a:cubicBezTo>
                  <a:lnTo>
                    <a:pt x="36703" y="1056678"/>
                  </a:lnTo>
                  <a:cubicBezTo>
                    <a:pt x="26969" y="1056678"/>
                    <a:pt x="17633" y="1052811"/>
                    <a:pt x="10750" y="1045928"/>
                  </a:cubicBezTo>
                  <a:cubicBezTo>
                    <a:pt x="3867" y="1039045"/>
                    <a:pt x="0" y="1029710"/>
                    <a:pt x="0" y="1019975"/>
                  </a:cubicBezTo>
                  <a:lnTo>
                    <a:pt x="0" y="36703"/>
                  </a:lnTo>
                  <a:cubicBezTo>
                    <a:pt x="0" y="26969"/>
                    <a:pt x="3867" y="17633"/>
                    <a:pt x="10750" y="10750"/>
                  </a:cubicBezTo>
                  <a:cubicBezTo>
                    <a:pt x="17633" y="3867"/>
                    <a:pt x="26969" y="0"/>
                    <a:pt x="367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717112" cy="1037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57693" y="1028700"/>
            <a:ext cx="7151341" cy="8447404"/>
            <a:chOff x="0" y="0"/>
            <a:chExt cx="9535122" cy="1126320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186317" cy="1062401"/>
              <a:chOff x="0" y="0"/>
              <a:chExt cx="1417549" cy="1839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48804" y="1405103"/>
              <a:ext cx="8186317" cy="1062401"/>
              <a:chOff x="0" y="0"/>
              <a:chExt cx="1417549" cy="1839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939" y="2894136"/>
              <a:ext cx="8186317" cy="1062401"/>
              <a:chOff x="0" y="0"/>
              <a:chExt cx="1417549" cy="1839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348804" y="4300920"/>
              <a:ext cx="8186317" cy="1062401"/>
              <a:chOff x="0" y="0"/>
              <a:chExt cx="1417549" cy="18396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72388" y="368597"/>
              <a:ext cx="744742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Item Status Helm instalado e configurado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087702" y="1776250"/>
              <a:ext cx="641652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Cluster Kubernetes funcionando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72388" y="3183034"/>
              <a:ext cx="744742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Chart criado com templates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718253" y="4680382"/>
              <a:ext cx="484066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Deploy DEV com 1 réplica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0" y="5899884"/>
              <a:ext cx="8186317" cy="1062401"/>
              <a:chOff x="0" y="0"/>
              <a:chExt cx="1417549" cy="18396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348804" y="7304987"/>
              <a:ext cx="8186317" cy="1062401"/>
              <a:chOff x="0" y="0"/>
              <a:chExt cx="1417549" cy="18396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939" y="8794021"/>
              <a:ext cx="8186317" cy="1062401"/>
              <a:chOff x="0" y="0"/>
              <a:chExt cx="1417549" cy="18396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348804" y="10200804"/>
              <a:ext cx="8186317" cy="1062401"/>
              <a:chOff x="0" y="0"/>
              <a:chExt cx="1417549" cy="18396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738898" y="6271031"/>
              <a:ext cx="662651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Deploy PROD com 3 réplicas 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087702" y="7676134"/>
              <a:ext cx="641652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Port-forward funcionando 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72388" y="9082918"/>
              <a:ext cx="744742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Aplicação acessível via navegador 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718253" y="10580266"/>
              <a:ext cx="6785977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Rollback executado com sucesso 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3097111" y="752413"/>
            <a:ext cx="4991209" cy="103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sz="7280" spc="-116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Resultados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4577" y="845799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4011154">
            <a:off x="8869001" y="-1023874"/>
            <a:ext cx="17403374" cy="18180272"/>
            <a:chOff x="0" y="0"/>
            <a:chExt cx="4583605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3605" cy="4788220"/>
            </a:xfrm>
            <a:custGeom>
              <a:avLst/>
              <a:gdLst/>
              <a:ahLst/>
              <a:cxnLst/>
              <a:rect r="r" b="b" t="t" l="l"/>
              <a:pathLst>
                <a:path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6149" y="1844420"/>
            <a:ext cx="8711142" cy="8442580"/>
            <a:chOff x="0" y="0"/>
            <a:chExt cx="942168" cy="9131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2168" cy="913121"/>
            </a:xfrm>
            <a:custGeom>
              <a:avLst/>
              <a:gdLst/>
              <a:ahLst/>
              <a:cxnLst/>
              <a:rect r="r" b="b" t="t" l="l"/>
              <a:pathLst>
                <a:path h="913121" w="942168">
                  <a:moveTo>
                    <a:pt x="43548" y="0"/>
                  </a:moveTo>
                  <a:lnTo>
                    <a:pt x="898620" y="0"/>
                  </a:lnTo>
                  <a:cubicBezTo>
                    <a:pt x="910169" y="0"/>
                    <a:pt x="921246" y="4588"/>
                    <a:pt x="929413" y="12755"/>
                  </a:cubicBezTo>
                  <a:cubicBezTo>
                    <a:pt x="937580" y="20922"/>
                    <a:pt x="942168" y="31998"/>
                    <a:pt x="942168" y="43548"/>
                  </a:cubicBezTo>
                  <a:lnTo>
                    <a:pt x="942168" y="869573"/>
                  </a:lnTo>
                  <a:cubicBezTo>
                    <a:pt x="942168" y="881123"/>
                    <a:pt x="937580" y="892199"/>
                    <a:pt x="929413" y="900366"/>
                  </a:cubicBezTo>
                  <a:cubicBezTo>
                    <a:pt x="921246" y="908533"/>
                    <a:pt x="910169" y="913121"/>
                    <a:pt x="898620" y="913121"/>
                  </a:cubicBezTo>
                  <a:lnTo>
                    <a:pt x="43548" y="913121"/>
                  </a:lnTo>
                  <a:cubicBezTo>
                    <a:pt x="31998" y="913121"/>
                    <a:pt x="20922" y="908533"/>
                    <a:pt x="12755" y="900366"/>
                  </a:cubicBezTo>
                  <a:cubicBezTo>
                    <a:pt x="4588" y="892199"/>
                    <a:pt x="0" y="881123"/>
                    <a:pt x="0" y="869573"/>
                  </a:cubicBezTo>
                  <a:lnTo>
                    <a:pt x="0" y="43548"/>
                  </a:lnTo>
                  <a:cubicBezTo>
                    <a:pt x="0" y="31998"/>
                    <a:pt x="4588" y="20922"/>
                    <a:pt x="12755" y="12755"/>
                  </a:cubicBezTo>
                  <a:cubicBezTo>
                    <a:pt x="20922" y="4588"/>
                    <a:pt x="31998" y="0"/>
                    <a:pt x="4354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186" r="0" b="-318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36149" y="5658831"/>
            <a:ext cx="8711142" cy="4628169"/>
            <a:chOff x="0" y="0"/>
            <a:chExt cx="1988880" cy="1056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8880" cy="1056678"/>
            </a:xfrm>
            <a:custGeom>
              <a:avLst/>
              <a:gdLst/>
              <a:ahLst/>
              <a:cxnLst/>
              <a:rect r="r" b="b" t="t" l="l"/>
              <a:pathLst>
                <a:path h="1056678" w="1988880">
                  <a:moveTo>
                    <a:pt x="45326" y="0"/>
                  </a:moveTo>
                  <a:lnTo>
                    <a:pt x="1943555" y="0"/>
                  </a:lnTo>
                  <a:cubicBezTo>
                    <a:pt x="1955576" y="0"/>
                    <a:pt x="1967104" y="4775"/>
                    <a:pt x="1975605" y="13276"/>
                  </a:cubicBezTo>
                  <a:cubicBezTo>
                    <a:pt x="1984105" y="21776"/>
                    <a:pt x="1988880" y="33305"/>
                    <a:pt x="1988880" y="45326"/>
                  </a:cubicBezTo>
                  <a:lnTo>
                    <a:pt x="1988880" y="1011353"/>
                  </a:lnTo>
                  <a:cubicBezTo>
                    <a:pt x="1988880" y="1036385"/>
                    <a:pt x="1968587" y="1056678"/>
                    <a:pt x="1943555" y="1056678"/>
                  </a:cubicBezTo>
                  <a:lnTo>
                    <a:pt x="45326" y="1056678"/>
                  </a:lnTo>
                  <a:cubicBezTo>
                    <a:pt x="20293" y="1056678"/>
                    <a:pt x="0" y="1036385"/>
                    <a:pt x="0" y="1011353"/>
                  </a:cubicBezTo>
                  <a:lnTo>
                    <a:pt x="0" y="45326"/>
                  </a:lnTo>
                  <a:cubicBezTo>
                    <a:pt x="0" y="20293"/>
                    <a:pt x="20293" y="0"/>
                    <a:pt x="453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57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988880" cy="1037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57693" y="1028700"/>
            <a:ext cx="7151341" cy="8447404"/>
            <a:chOff x="0" y="0"/>
            <a:chExt cx="9535122" cy="1126320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186317" cy="1062401"/>
              <a:chOff x="0" y="0"/>
              <a:chExt cx="1417549" cy="18396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48804" y="1405103"/>
              <a:ext cx="8186317" cy="1062401"/>
              <a:chOff x="0" y="0"/>
              <a:chExt cx="1417549" cy="18396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939" y="2894136"/>
              <a:ext cx="8186317" cy="1062401"/>
              <a:chOff x="0" y="0"/>
              <a:chExt cx="1417549" cy="18396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348804" y="4300920"/>
              <a:ext cx="8186317" cy="1062401"/>
              <a:chOff x="0" y="0"/>
              <a:chExt cx="1417549" cy="18396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72388" y="368597"/>
              <a:ext cx="744742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Item Status Helm instalado e configurado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087702" y="1776250"/>
              <a:ext cx="641652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Cluster Kubernetes funcionando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72388" y="3183034"/>
              <a:ext cx="744742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Chart criado com templates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718253" y="4680382"/>
              <a:ext cx="484066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Deploy DEV com 1 réplica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0" y="5899884"/>
              <a:ext cx="8186317" cy="1062401"/>
              <a:chOff x="0" y="0"/>
              <a:chExt cx="1417549" cy="18396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348804" y="7304987"/>
              <a:ext cx="8186317" cy="1062401"/>
              <a:chOff x="0" y="0"/>
              <a:chExt cx="1417549" cy="18396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939" y="8794021"/>
              <a:ext cx="8186317" cy="1062401"/>
              <a:chOff x="0" y="0"/>
              <a:chExt cx="1417549" cy="18396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348804" y="10200804"/>
              <a:ext cx="8186317" cy="1062401"/>
              <a:chOff x="0" y="0"/>
              <a:chExt cx="1417549" cy="18396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417549" cy="183966"/>
              </a:xfrm>
              <a:custGeom>
                <a:avLst/>
                <a:gdLst/>
                <a:ahLst/>
                <a:cxnLst/>
                <a:rect r="r" b="b" t="t" l="l"/>
                <a:pathLst>
                  <a:path h="183966" w="1417549">
                    <a:moveTo>
                      <a:pt x="26480" y="0"/>
                    </a:moveTo>
                    <a:lnTo>
                      <a:pt x="1391069" y="0"/>
                    </a:lnTo>
                    <a:cubicBezTo>
                      <a:pt x="1405694" y="0"/>
                      <a:pt x="1417549" y="11856"/>
                      <a:pt x="1417549" y="26480"/>
                    </a:cubicBezTo>
                    <a:lnTo>
                      <a:pt x="1417549" y="157486"/>
                    </a:lnTo>
                    <a:cubicBezTo>
                      <a:pt x="1417549" y="172111"/>
                      <a:pt x="1405694" y="183966"/>
                      <a:pt x="1391069" y="183966"/>
                    </a:cubicBezTo>
                    <a:lnTo>
                      <a:pt x="26480" y="183966"/>
                    </a:lnTo>
                    <a:cubicBezTo>
                      <a:pt x="11856" y="183966"/>
                      <a:pt x="0" y="172111"/>
                      <a:pt x="0" y="157486"/>
                    </a:cubicBezTo>
                    <a:lnTo>
                      <a:pt x="0" y="26480"/>
                    </a:lnTo>
                    <a:cubicBezTo>
                      <a:pt x="0" y="11856"/>
                      <a:pt x="11856" y="0"/>
                      <a:pt x="26480" y="0"/>
                    </a:cubicBezTo>
                    <a:close/>
                  </a:path>
                </a:pathLst>
              </a:custGeom>
              <a:solidFill>
                <a:srgbClr val="202127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19050"/>
                <a:ext cx="1417549" cy="164916"/>
              </a:xfrm>
              <a:prstGeom prst="rect">
                <a:avLst/>
              </a:prstGeom>
            </p:spPr>
            <p:txBody>
              <a:bodyPr anchor="ctr" rtlCol="false" tIns="57397" lIns="57397" bIns="57397" rIns="57397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738898" y="6271031"/>
              <a:ext cx="662651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Deploy PROD com 3 réplicas 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087702" y="7676134"/>
              <a:ext cx="6416528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Port-forward funcionando 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72388" y="9082918"/>
              <a:ext cx="7447420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Aplicação acessível via navegador 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718253" y="10580266"/>
              <a:ext cx="6785977" cy="43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6"/>
                </a:lnSpc>
              </a:pPr>
              <a:r>
                <a:rPr lang="en-US" sz="2302">
                  <a:solidFill>
                    <a:srgbClr val="FFFFFF"/>
                  </a:solidFill>
                  <a:latin typeface="Arial MT Pro"/>
                  <a:ea typeface="Arial MT Pro"/>
                  <a:cs typeface="Arial MT Pro"/>
                  <a:sym typeface="Arial MT Pro"/>
                </a:rPr>
                <a:t>Rollback executado com sucesso 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3097111" y="752413"/>
            <a:ext cx="4991209" cy="103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sz="7280" spc="-116" b="true">
                <a:solidFill>
                  <a:srgbClr val="27DDD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Resultados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9197" y="924610"/>
            <a:ext cx="499539" cy="503199"/>
          </a:xfrm>
          <a:custGeom>
            <a:avLst/>
            <a:gdLst/>
            <a:ahLst/>
            <a:cxnLst/>
            <a:rect r="r" b="b" t="t" l="l"/>
            <a:pathLst>
              <a:path h="503199" w="499539">
                <a:moveTo>
                  <a:pt x="0" y="0"/>
                </a:moveTo>
                <a:lnTo>
                  <a:pt x="499539" y="0"/>
                </a:lnTo>
                <a:lnTo>
                  <a:pt x="499539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28707" y="0"/>
            <a:ext cx="11245686" cy="2352419"/>
            <a:chOff x="0" y="0"/>
            <a:chExt cx="1942786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42786" cy="406400"/>
            </a:xfrm>
            <a:custGeom>
              <a:avLst/>
              <a:gdLst/>
              <a:ahLst/>
              <a:cxnLst/>
              <a:rect r="r" b="b" t="t" l="l"/>
              <a:pathLst>
                <a:path h="406400" w="1942786">
                  <a:moveTo>
                    <a:pt x="1739586" y="0"/>
                  </a:moveTo>
                  <a:cubicBezTo>
                    <a:pt x="1851810" y="0"/>
                    <a:pt x="1942786" y="90976"/>
                    <a:pt x="1942786" y="203200"/>
                  </a:cubicBezTo>
                  <a:cubicBezTo>
                    <a:pt x="1942786" y="315424"/>
                    <a:pt x="1851810" y="406400"/>
                    <a:pt x="17395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42786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60192" y="2254830"/>
            <a:ext cx="7091358" cy="8145605"/>
            <a:chOff x="0" y="0"/>
            <a:chExt cx="1425498" cy="16374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5498" cy="1637421"/>
            </a:xfrm>
            <a:custGeom>
              <a:avLst/>
              <a:gdLst/>
              <a:ahLst/>
              <a:cxnLst/>
              <a:rect r="r" b="b" t="t" l="l"/>
              <a:pathLst>
                <a:path h="1637421" w="1425498">
                  <a:moveTo>
                    <a:pt x="31660" y="0"/>
                  </a:moveTo>
                  <a:lnTo>
                    <a:pt x="1393837" y="0"/>
                  </a:lnTo>
                  <a:cubicBezTo>
                    <a:pt x="1411323" y="0"/>
                    <a:pt x="1425498" y="14175"/>
                    <a:pt x="1425498" y="31660"/>
                  </a:cubicBezTo>
                  <a:lnTo>
                    <a:pt x="1425498" y="1605761"/>
                  </a:lnTo>
                  <a:cubicBezTo>
                    <a:pt x="1425498" y="1614158"/>
                    <a:pt x="1422162" y="1622211"/>
                    <a:pt x="1416225" y="1628148"/>
                  </a:cubicBezTo>
                  <a:cubicBezTo>
                    <a:pt x="1410287" y="1634086"/>
                    <a:pt x="1402234" y="1637421"/>
                    <a:pt x="1393837" y="1637421"/>
                  </a:cubicBezTo>
                  <a:lnTo>
                    <a:pt x="31660" y="1637421"/>
                  </a:lnTo>
                  <a:cubicBezTo>
                    <a:pt x="23264" y="1637421"/>
                    <a:pt x="15211" y="1634086"/>
                    <a:pt x="9273" y="1628148"/>
                  </a:cubicBezTo>
                  <a:cubicBezTo>
                    <a:pt x="3336" y="1622211"/>
                    <a:pt x="0" y="1614158"/>
                    <a:pt x="0" y="1605761"/>
                  </a:cubicBezTo>
                  <a:lnTo>
                    <a:pt x="0" y="31660"/>
                  </a:lnTo>
                  <a:cubicBezTo>
                    <a:pt x="0" y="23264"/>
                    <a:pt x="3336" y="15211"/>
                    <a:pt x="9273" y="9273"/>
                  </a:cubicBezTo>
                  <a:cubicBezTo>
                    <a:pt x="15211" y="3336"/>
                    <a:pt x="23264" y="0"/>
                    <a:pt x="3166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327" r="0" b="-332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60192" y="5084124"/>
            <a:ext cx="7091358" cy="5316310"/>
            <a:chOff x="0" y="0"/>
            <a:chExt cx="1520319" cy="11397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0319" cy="1139766"/>
            </a:xfrm>
            <a:custGeom>
              <a:avLst/>
              <a:gdLst/>
              <a:ahLst/>
              <a:cxnLst/>
              <a:rect r="r" b="b" t="t" l="l"/>
              <a:pathLst>
                <a:path h="1139766" w="1520319">
                  <a:moveTo>
                    <a:pt x="30569" y="0"/>
                  </a:moveTo>
                  <a:lnTo>
                    <a:pt x="1489750" y="0"/>
                  </a:lnTo>
                  <a:cubicBezTo>
                    <a:pt x="1506633" y="0"/>
                    <a:pt x="1520319" y="13686"/>
                    <a:pt x="1520319" y="30569"/>
                  </a:cubicBezTo>
                  <a:lnTo>
                    <a:pt x="1520319" y="1109197"/>
                  </a:lnTo>
                  <a:cubicBezTo>
                    <a:pt x="1520319" y="1117304"/>
                    <a:pt x="1517098" y="1125079"/>
                    <a:pt x="1511365" y="1130812"/>
                  </a:cubicBezTo>
                  <a:cubicBezTo>
                    <a:pt x="1505633" y="1136545"/>
                    <a:pt x="1497857" y="1139766"/>
                    <a:pt x="1489750" y="1139766"/>
                  </a:cubicBezTo>
                  <a:lnTo>
                    <a:pt x="30569" y="1139766"/>
                  </a:lnTo>
                  <a:cubicBezTo>
                    <a:pt x="22461" y="1139766"/>
                    <a:pt x="14686" y="1136545"/>
                    <a:pt x="8953" y="1130812"/>
                  </a:cubicBezTo>
                  <a:cubicBezTo>
                    <a:pt x="3221" y="1125079"/>
                    <a:pt x="0" y="1117304"/>
                    <a:pt x="0" y="1109197"/>
                  </a:cubicBezTo>
                  <a:lnTo>
                    <a:pt x="0" y="30569"/>
                  </a:lnTo>
                  <a:cubicBezTo>
                    <a:pt x="0" y="22461"/>
                    <a:pt x="3221" y="14686"/>
                    <a:pt x="8953" y="8953"/>
                  </a:cubicBezTo>
                  <a:cubicBezTo>
                    <a:pt x="14686" y="3221"/>
                    <a:pt x="22461" y="0"/>
                    <a:pt x="305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519">
                    <a:alpha val="0"/>
                  </a:srgbClr>
                </a:gs>
                <a:gs pos="100000">
                  <a:srgbClr val="141519">
                    <a:alpha val="945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520319" cy="1120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92050" y="3066570"/>
            <a:ext cx="6964686" cy="6645580"/>
            <a:chOff x="0" y="0"/>
            <a:chExt cx="1834320" cy="17502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4320" cy="1750276"/>
            </a:xfrm>
            <a:custGeom>
              <a:avLst/>
              <a:gdLst/>
              <a:ahLst/>
              <a:cxnLst/>
              <a:rect r="r" b="b" t="t" l="l"/>
              <a:pathLst>
                <a:path h="1750276" w="1834320">
                  <a:moveTo>
                    <a:pt x="56691" y="0"/>
                  </a:moveTo>
                  <a:lnTo>
                    <a:pt x="1777629" y="0"/>
                  </a:lnTo>
                  <a:cubicBezTo>
                    <a:pt x="1808939" y="0"/>
                    <a:pt x="1834320" y="25382"/>
                    <a:pt x="1834320" y="56691"/>
                  </a:cubicBezTo>
                  <a:lnTo>
                    <a:pt x="1834320" y="1693585"/>
                  </a:lnTo>
                  <a:cubicBezTo>
                    <a:pt x="1834320" y="1708620"/>
                    <a:pt x="1828348" y="1723040"/>
                    <a:pt x="1817716" y="1733672"/>
                  </a:cubicBezTo>
                  <a:cubicBezTo>
                    <a:pt x="1807084" y="1744303"/>
                    <a:pt x="1792664" y="1750276"/>
                    <a:pt x="1777629" y="1750276"/>
                  </a:cubicBezTo>
                  <a:lnTo>
                    <a:pt x="56691" y="1750276"/>
                  </a:lnTo>
                  <a:cubicBezTo>
                    <a:pt x="41656" y="1750276"/>
                    <a:pt x="27236" y="1744303"/>
                    <a:pt x="16605" y="1733672"/>
                  </a:cubicBezTo>
                  <a:cubicBezTo>
                    <a:pt x="5973" y="1723040"/>
                    <a:pt x="0" y="1708620"/>
                    <a:pt x="0" y="1693585"/>
                  </a:cubicBezTo>
                  <a:lnTo>
                    <a:pt x="0" y="56691"/>
                  </a:lnTo>
                  <a:cubicBezTo>
                    <a:pt x="0" y="41656"/>
                    <a:pt x="5973" y="27236"/>
                    <a:pt x="16605" y="16605"/>
                  </a:cubicBezTo>
                  <a:cubicBezTo>
                    <a:pt x="27236" y="5973"/>
                    <a:pt x="41656" y="0"/>
                    <a:pt x="56691" y="0"/>
                  </a:cubicBezTo>
                  <a:close/>
                </a:path>
              </a:pathLst>
            </a:custGeom>
            <a:solidFill>
              <a:srgbClr val="20212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834320" cy="1731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831117" y="789581"/>
            <a:ext cx="9840865" cy="754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4829" spc="-202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Desafio 4 — Syslog-ng.conf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19013" y="3235039"/>
            <a:ext cx="6110759" cy="6023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1"/>
              </a:lnSpc>
            </a:pPr>
            <a:r>
              <a:rPr lang="en-US" sz="270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Desenvolve um sistema como uma solução de registro centralizado utilizando Docker e Syslog-ng. Seu objetivo é coletar e armazenar os registros gerados por vários contêineres em um único local, organização cronológica: por data e origem para facilitar buscar futuras no monitoramento, auditoria e detecção de falhas no sistema.</a:t>
            </a:r>
          </a:p>
          <a:p>
            <a:pPr algn="l">
              <a:lnSpc>
                <a:spcPts val="4301"/>
              </a:lnSpc>
            </a:pPr>
            <a:r>
              <a:rPr lang="en-US" sz="2705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"logs em ilhas isoladas"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55985" y="-3712286"/>
            <a:ext cx="11404113" cy="11487660"/>
          </a:xfrm>
          <a:custGeom>
            <a:avLst/>
            <a:gdLst/>
            <a:ahLst/>
            <a:cxnLst/>
            <a:rect r="r" b="b" t="t" l="l"/>
            <a:pathLst>
              <a:path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46072" y="1259594"/>
            <a:ext cx="10373474" cy="150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48"/>
              </a:lnSpc>
            </a:pPr>
            <a:r>
              <a:rPr lang="en-US" b="true" sz="9662" spc="-40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 de Software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014233" y="4758035"/>
            <a:ext cx="6911692" cy="4500265"/>
            <a:chOff x="0" y="0"/>
            <a:chExt cx="9215589" cy="600035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215589" cy="6000354"/>
              <a:chOff x="0" y="0"/>
              <a:chExt cx="1417549" cy="92297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17549" cy="922979"/>
              </a:xfrm>
              <a:custGeom>
                <a:avLst/>
                <a:gdLst/>
                <a:ahLst/>
                <a:cxnLst/>
                <a:rect r="r" b="b" t="t" l="l"/>
                <a:pathLst>
                  <a:path h="922979" w="1417549">
                    <a:moveTo>
                      <a:pt x="23523" y="0"/>
                    </a:moveTo>
                    <a:lnTo>
                      <a:pt x="1394027" y="0"/>
                    </a:lnTo>
                    <a:cubicBezTo>
                      <a:pt x="1407018" y="0"/>
                      <a:pt x="1417549" y="10531"/>
                      <a:pt x="1417549" y="23523"/>
                    </a:cubicBezTo>
                    <a:lnTo>
                      <a:pt x="1417549" y="899457"/>
                    </a:lnTo>
                    <a:cubicBezTo>
                      <a:pt x="1417549" y="905695"/>
                      <a:pt x="1415071" y="911678"/>
                      <a:pt x="1410660" y="916090"/>
                    </a:cubicBezTo>
                    <a:cubicBezTo>
                      <a:pt x="1406248" y="920501"/>
                      <a:pt x="1400265" y="922979"/>
                      <a:pt x="1394027" y="922979"/>
                    </a:cubicBezTo>
                    <a:lnTo>
                      <a:pt x="23523" y="922979"/>
                    </a:lnTo>
                    <a:cubicBezTo>
                      <a:pt x="10531" y="922979"/>
                      <a:pt x="0" y="912448"/>
                      <a:pt x="0" y="899457"/>
                    </a:cubicBezTo>
                    <a:lnTo>
                      <a:pt x="0" y="23523"/>
                    </a:lnTo>
                    <a:cubicBezTo>
                      <a:pt x="0" y="10531"/>
                      <a:pt x="10531" y="0"/>
                      <a:pt x="2352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C4A5B">
                      <a:alpha val="100000"/>
                    </a:srgbClr>
                  </a:gs>
                  <a:gs pos="100000">
                    <a:srgbClr val="27DDDF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19050"/>
                <a:ext cx="1417549" cy="903929"/>
              </a:xfrm>
              <a:prstGeom prst="rect">
                <a:avLst/>
              </a:prstGeom>
            </p:spPr>
            <p:txBody>
              <a:bodyPr anchor="ctr" rtlCol="false" tIns="64462" lIns="64462" bIns="64462" rIns="64462"/>
              <a:lstStyle/>
              <a:p>
                <a:pPr algn="ctr">
                  <a:lnSpc>
                    <a:spcPts val="1387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23495" y="347638"/>
              <a:ext cx="8768600" cy="52669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43"/>
                </a:lnSpc>
              </a:pPr>
              <a:r>
                <a:rPr lang="en-US" sz="7157" spc="-300" b="true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Falhas Identificadas e Correções Implementadas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-851681">
            <a:off x="808966" y="7541919"/>
            <a:ext cx="21825170" cy="18180272"/>
            <a:chOff x="0" y="0"/>
            <a:chExt cx="5748193" cy="47882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48193" cy="4788220"/>
            </a:xfrm>
            <a:custGeom>
              <a:avLst/>
              <a:gdLst/>
              <a:ahLst/>
              <a:cxnLst/>
              <a:rect r="r" b="b" t="t" l="l"/>
              <a:pathLst>
                <a:path h="4788220" w="5748193">
                  <a:moveTo>
                    <a:pt x="0" y="0"/>
                  </a:moveTo>
                  <a:lnTo>
                    <a:pt x="5748193" y="0"/>
                  </a:lnTo>
                  <a:lnTo>
                    <a:pt x="5748193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5748193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97071" y="4345802"/>
            <a:ext cx="1694817" cy="1707233"/>
          </a:xfrm>
          <a:custGeom>
            <a:avLst/>
            <a:gdLst/>
            <a:ahLst/>
            <a:cxnLst/>
            <a:rect r="r" b="b" t="t" l="l"/>
            <a:pathLst>
              <a:path h="1707233" w="1694817">
                <a:moveTo>
                  <a:pt x="0" y="0"/>
                </a:moveTo>
                <a:lnTo>
                  <a:pt x="1694817" y="0"/>
                </a:lnTo>
                <a:lnTo>
                  <a:pt x="1694817" y="1707233"/>
                </a:lnTo>
                <a:lnTo>
                  <a:pt x="0" y="1707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374770">
            <a:off x="-2363131" y="5393539"/>
            <a:ext cx="20251759" cy="18180272"/>
            <a:chOff x="0" y="0"/>
            <a:chExt cx="5333797" cy="4788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3797" cy="4788220"/>
            </a:xfrm>
            <a:custGeom>
              <a:avLst/>
              <a:gdLst/>
              <a:ahLst/>
              <a:cxnLst/>
              <a:rect r="r" b="b" t="t" l="l"/>
              <a:pathLst>
                <a:path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 rotWithShape="true">
              <a:gsLst>
                <a:gs pos="0">
                  <a:srgbClr val="27DDDF">
                    <a:alpha val="0"/>
                  </a:srgbClr>
                </a:gs>
                <a:gs pos="100000">
                  <a:srgbClr val="27DDD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8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61457" y="4288652"/>
            <a:ext cx="14126257" cy="222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1"/>
              </a:lnSpc>
            </a:pPr>
            <a:r>
              <a:rPr lang="en-US" b="true" sz="14279" spc="-59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DAHMIZapaLA</dc:identifier>
  <dcterms:modified xsi:type="dcterms:W3CDTF">2011-08-01T06:04:30Z</dcterms:modified>
  <cp:revision>1</cp:revision>
  <dc:title>Brute Force Simulator</dc:title>
</cp:coreProperties>
</file>